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jpe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jpe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jpe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jpe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jpe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jpe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jpe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76" b="-476"/>
          <a:stretch/>
        </p:blipFill>
        <p:spPr>
          <a:xfrm>
            <a:off x="375818" y="385877"/>
            <a:ext cx="276149" cy="2478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981151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261518"/>
            <a:ext cx="58960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SENAI Afonso Greco • Curso Técnico em Desenvolvimento de Sistemas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519379"/>
            <a:ext cx="5324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Relatório técnico e aplicação prática de Design Patterns (GoF)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287000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10368382" y="405079"/>
            <a:ext cx="219456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78260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42" b="-842"/>
          <a:stretch/>
        </p:blipFill>
        <p:spPr>
          <a:xfrm>
            <a:off x="10877702" y="405079"/>
            <a:ext cx="190195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760" r="-760" t="0" b="0"/>
          <a:stretch/>
        </p:blipFill>
        <p:spPr>
          <a:xfrm>
            <a:off x="11391595" y="405079"/>
            <a:ext cx="152705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2145182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2088490"/>
            <a:ext cx="2358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Estrutural (GoF)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2469794"/>
            <a:ext cx="590611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Padrão de Projeto </a:t>
            </a:r>
            <a:pPr algn="l" indent="0" marL="0">
              <a:buNone/>
            </a:pPr>
            <a:r>
              <a:rPr lang="en-US" sz="42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Facade</a:t>
            </a:r>
            <a:endParaRPr lang="en-US" sz="4200" dirty="0"/>
          </a:p>
        </p:txBody>
      </p:sp>
      <p:sp>
        <p:nvSpPr>
          <p:cNvPr id="18" name="Text 12"/>
          <p:cNvSpPr txBox="1"/>
          <p:nvPr/>
        </p:nvSpPr>
        <p:spPr>
          <a:xfrm>
            <a:off x="1561795" y="3741725"/>
            <a:ext cx="581284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Aplicação em </a:t>
            </a:r>
            <a:pPr algn="l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C#</a:t>
            </a:r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 </a:t>
            </a:r>
            <a:pPr algn="l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WPF</a:t>
            </a:r>
            <a:pPr algn="l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reduzir acoplamento e simplificar o acesso a subsistemas. 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1561795" y="4688129"/>
            <a:ext cx="1705356" cy="466344"/>
          </a:xfrm>
          <a:prstGeom prst="roundRect">
            <a:avLst>
              <a:gd name="adj" fmla="val 112045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1705356" y="4843577"/>
            <a:ext cx="171907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971446" y="4688129"/>
            <a:ext cx="120975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 unificada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3395167" y="4688129"/>
            <a:ext cx="1809598" cy="466344"/>
          </a:xfrm>
          <a:prstGeom prst="roundRect">
            <a:avLst>
              <a:gd name="adj" fmla="val 112045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3537814" y="4843577"/>
            <a:ext cx="190195" cy="1527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824021" y="4688129"/>
            <a:ext cx="12957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Menos acoplamento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335524" y="4688129"/>
            <a:ext cx="1647749" cy="466344"/>
          </a:xfrm>
          <a:prstGeom prst="roundRect">
            <a:avLst>
              <a:gd name="adj" fmla="val 112045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478170" y="4843577"/>
            <a:ext cx="152705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725973" y="4688129"/>
            <a:ext cx="117226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Mais testabilidade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7563002" y="1645006"/>
            <a:ext cx="4095598" cy="3629254"/>
          </a:xfrm>
          <a:prstGeom prst="roundRect">
            <a:avLst>
              <a:gd name="adj" fmla="val 264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7572146" y="1655064"/>
            <a:ext cx="4076395" cy="533095"/>
          </a:xfrm>
          <a:prstGeom prst="roundRect">
            <a:avLst>
              <a:gd name="adj" fmla="val 122519"/>
            </a:avLst>
          </a:prstGeom>
          <a:solidFill>
            <a:srgbClr val="F1F5F9"/>
          </a:solidFill>
          <a:ln/>
        </p:spPr>
      </p:sp>
      <p:sp>
        <p:nvSpPr>
          <p:cNvPr id="30" name="Shape 21"/>
          <p:cNvSpPr/>
          <p:nvPr/>
        </p:nvSpPr>
        <p:spPr>
          <a:xfrm>
            <a:off x="7572146" y="2179015"/>
            <a:ext cx="4076395" cy="9144"/>
          </a:xfrm>
          <a:prstGeom prst="roundRect">
            <a:avLst>
              <a:gd name="adj" fmla="val 7142857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7763256" y="1816913"/>
            <a:ext cx="8622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Visão rápida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10775290" y="1831543"/>
            <a:ext cx="81655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C# • WPF • GoF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7800746" y="2379269"/>
            <a:ext cx="323698" cy="323698"/>
          </a:xfrm>
          <a:prstGeom prst="roundRect">
            <a:avLst>
              <a:gd name="adj" fmla="val 166168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rcRect l="-837" r="-837" t="0" b="0"/>
          <a:stretch/>
        </p:blipFill>
        <p:spPr>
          <a:xfrm>
            <a:off x="7886700" y="2474366"/>
            <a:ext cx="152705" cy="13350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238744" y="2379269"/>
            <a:ext cx="3296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(WPF)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8238744" y="2578608"/>
            <a:ext cx="3258007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Chama uma operação de alto nível, sem conhecer os detalhes do back-end.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7800746" y="3022092"/>
            <a:ext cx="323698" cy="323698"/>
          </a:xfrm>
          <a:prstGeom prst="roundRect">
            <a:avLst>
              <a:gd name="adj" fmla="val 166168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895844" y="3117190"/>
            <a:ext cx="133502" cy="13350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238744" y="3022092"/>
            <a:ext cx="3296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Facade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8238744" y="3221431"/>
            <a:ext cx="377372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Orquestra o fluxo e delega para serviços especializados.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7800746" y="3510382"/>
            <a:ext cx="323698" cy="323698"/>
          </a:xfrm>
          <a:prstGeom prst="roundRect">
            <a:avLst>
              <a:gd name="adj" fmla="val 166168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rcRect l="-837" r="-837" t="0" b="0"/>
          <a:stretch/>
        </p:blipFill>
        <p:spPr>
          <a:xfrm>
            <a:off x="7886700" y="3605479"/>
            <a:ext cx="152705" cy="13350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238744" y="3510382"/>
            <a:ext cx="32964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Subsistemas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8238744" y="3709721"/>
            <a:ext cx="377372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Estoque • Pagamento • Notificação (exemplo do projeto).</a:t>
            </a:r>
            <a:endParaRPr lang="en-US" sz="90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-2078" r="-2078" t="0" b="0"/>
          <a:stretch/>
        </p:blipFill>
        <p:spPr>
          <a:xfrm>
            <a:off x="7800746" y="3997757"/>
            <a:ext cx="3619195" cy="91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800746" y="4141318"/>
            <a:ext cx="3734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Dados do trabalho</a:t>
            </a:r>
            <a:endParaRPr lang="en-US" sz="1000" dirty="0"/>
          </a:p>
        </p:txBody>
      </p:sp>
      <p:sp>
        <p:nvSpPr>
          <p:cNvPr id="47" name="Text 34"/>
          <p:cNvSpPr txBox="1"/>
          <p:nvPr/>
        </p:nvSpPr>
        <p:spPr>
          <a:xfrm>
            <a:off x="7800746" y="4398264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Autor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9702698" y="4398264"/>
            <a:ext cx="2051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Otavio Henrique Barbosa Soares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7800746" y="4641494"/>
            <a:ext cx="5897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Professor</a:t>
            </a:r>
            <a:endParaRPr lang="en-US" sz="900" dirty="0"/>
          </a:p>
        </p:txBody>
      </p:sp>
      <p:sp>
        <p:nvSpPr>
          <p:cNvPr id="50" name="Text 37"/>
          <p:cNvSpPr txBox="1"/>
          <p:nvPr/>
        </p:nvSpPr>
        <p:spPr>
          <a:xfrm>
            <a:off x="10121494" y="4641494"/>
            <a:ext cx="15535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Frederico Martins Aguiar</a:t>
            </a:r>
            <a:endParaRPr lang="en-US" sz="900" dirty="0"/>
          </a:p>
        </p:txBody>
      </p:sp>
      <p:sp>
        <p:nvSpPr>
          <p:cNvPr id="51" name="Text 38"/>
          <p:cNvSpPr txBox="1"/>
          <p:nvPr/>
        </p:nvSpPr>
        <p:spPr>
          <a:xfrm>
            <a:off x="7800746" y="4883810"/>
            <a:ext cx="6236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Local/Ano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10238537" y="4883810"/>
            <a:ext cx="14173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Nova Lima – MG • 2026</a:t>
            </a:r>
            <a:endParaRPr lang="en-US" sz="900" dirty="0"/>
          </a:p>
        </p:txBody>
      </p:sp>
      <p:sp>
        <p:nvSpPr>
          <p:cNvPr id="53" name="Text 40"/>
          <p:cNvSpPr txBox="1"/>
          <p:nvPr/>
        </p:nvSpPr>
        <p:spPr>
          <a:xfrm>
            <a:off x="7638898" y="5422392"/>
            <a:ext cx="290230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Tema: Implementação do Padrão Estrutural Facade</a:t>
            </a:r>
            <a:endParaRPr lang="en-US" sz="9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10378440" y="5450738"/>
            <a:ext cx="105156" cy="1143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559491" y="5422392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Patterns (GoF)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1028700" y="6248095"/>
            <a:ext cx="11162995" cy="60990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3"/>
          <p:cNvSpPr txBox="1"/>
          <p:nvPr/>
        </p:nvSpPr>
        <p:spPr>
          <a:xfrm>
            <a:off x="1561795" y="6460236"/>
            <a:ext cx="4543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(GoF) em C# WPF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10581437" y="6460236"/>
            <a:ext cx="12929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RELATÓRIO TÉCNICO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0507" y="395021"/>
            <a:ext cx="228600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981151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261518"/>
            <a:ext cx="39593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519379"/>
            <a:ext cx="39593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problema: UI vira “central de comandos” dos serviços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10405872" y="405079"/>
            <a:ext cx="219456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10882274" y="405079"/>
            <a:ext cx="219456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382451" y="405079"/>
            <a:ext cx="171907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1414577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1371600"/>
            <a:ext cx="829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Motivação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1686154"/>
            <a:ext cx="5815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Contexto do Problema </a:t>
            </a:r>
            <a:pPr algn="l" indent="0" marL="0">
              <a:buNone/>
            </a:pPr>
            <a:r>
              <a:rPr lang="en-US" sz="33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(sem Facade)</a:t>
            </a:r>
            <a:endParaRPr lang="en-US" sz="3300" dirty="0"/>
          </a:p>
        </p:txBody>
      </p:sp>
      <p:sp>
        <p:nvSpPr>
          <p:cNvPr id="18" name="Text 12"/>
          <p:cNvSpPr txBox="1"/>
          <p:nvPr/>
        </p:nvSpPr>
        <p:spPr>
          <a:xfrm>
            <a:off x="1561795" y="2705710"/>
            <a:ext cx="63441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Quando a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orquestra tudo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o sistema fica frágil e difícil de evoluir. 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61795" y="3220517"/>
            <a:ext cx="2771546" cy="705002"/>
          </a:xfrm>
          <a:prstGeom prst="roundRect">
            <a:avLst>
              <a:gd name="adj" fmla="val 56087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705356" y="3363163"/>
            <a:ext cx="418795" cy="418795"/>
          </a:xfrm>
          <a:prstGeom prst="roundRect">
            <a:avLst>
              <a:gd name="adj" fmla="val 13894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1064" r="-1064" t="0" b="0"/>
          <a:stretch/>
        </p:blipFill>
        <p:spPr>
          <a:xfrm>
            <a:off x="1805026" y="3487522"/>
            <a:ext cx="219456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238451" y="3363163"/>
            <a:ext cx="20308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Acoplamento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2238451" y="3566160"/>
            <a:ext cx="230703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 conhece serviços e ordem.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448556" y="3220517"/>
            <a:ext cx="2771546" cy="705002"/>
          </a:xfrm>
          <a:prstGeom prst="roundRect">
            <a:avLst>
              <a:gd name="adj" fmla="val 56087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91202" y="3363163"/>
            <a:ext cx="418795" cy="418795"/>
          </a:xfrm>
          <a:prstGeom prst="roundRect">
            <a:avLst>
              <a:gd name="adj" fmla="val 13894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14646" y="3487522"/>
            <a:ext cx="171907" cy="1719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124298" y="3363163"/>
            <a:ext cx="20308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Manutenção difícil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5124298" y="3566160"/>
            <a:ext cx="22329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Mudança impacta várias telas.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1561795" y="4039819"/>
            <a:ext cx="2771546" cy="705002"/>
          </a:xfrm>
          <a:prstGeom prst="roundRect">
            <a:avLst>
              <a:gd name="adj" fmla="val 56087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705356" y="4182466"/>
            <a:ext cx="418795" cy="418795"/>
          </a:xfrm>
          <a:prstGeom prst="roundRect">
            <a:avLst>
              <a:gd name="adj" fmla="val 13894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828800" y="4306824"/>
            <a:ext cx="171907" cy="17190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238451" y="4182466"/>
            <a:ext cx="20308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Regressões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2238451" y="4385462"/>
            <a:ext cx="2158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Fluxo duplicado e espalhado.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4448556" y="4039819"/>
            <a:ext cx="2771546" cy="705002"/>
          </a:xfrm>
          <a:prstGeom prst="roundRect">
            <a:avLst>
              <a:gd name="adj" fmla="val 56087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591202" y="4182466"/>
            <a:ext cx="418795" cy="418795"/>
          </a:xfrm>
          <a:prstGeom prst="roundRect">
            <a:avLst>
              <a:gd name="adj" fmla="val 13894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714646" y="4306824"/>
            <a:ext cx="171907" cy="17190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124298" y="4182466"/>
            <a:ext cx="20308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Testes ruins</a:t>
            </a:r>
            <a:endParaRPr lang="en-US" sz="1100" dirty="0"/>
          </a:p>
        </p:txBody>
      </p:sp>
      <p:sp>
        <p:nvSpPr>
          <p:cNvPr id="38" name="Text 28"/>
          <p:cNvSpPr txBox="1"/>
          <p:nvPr/>
        </p:nvSpPr>
        <p:spPr>
          <a:xfrm>
            <a:off x="5124298" y="4385462"/>
            <a:ext cx="21588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Difícil isolar dependências.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1561795" y="5010912"/>
            <a:ext cx="3534156" cy="571500"/>
          </a:xfrm>
          <a:prstGeom prst="roundRect">
            <a:avLst>
              <a:gd name="adj" fmla="val 85333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1705356" y="5135270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790395" y="5221224"/>
            <a:ext cx="152705" cy="152705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2124151" y="5211166"/>
            <a:ext cx="33668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Meta: </a:t>
            </a:r>
            <a:pPr algn="l" indent="0" marL="0">
              <a:buNone/>
            </a:pPr>
            <a:r>
              <a:rPr lang="en-US" sz="11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chamada</a:t>
            </a:r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na UI para executar a venda </a:t>
            </a:r>
            <a:endParaRPr lang="en-US" sz="1100" dirty="0"/>
          </a:p>
        </p:txBody>
      </p:sp>
      <p:sp>
        <p:nvSpPr>
          <p:cNvPr id="43" name="Shape 32"/>
          <p:cNvSpPr/>
          <p:nvPr/>
        </p:nvSpPr>
        <p:spPr>
          <a:xfrm>
            <a:off x="7467905" y="1371600"/>
            <a:ext cx="4190695" cy="398129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7477049" y="1380744"/>
            <a:ext cx="4172407" cy="533095"/>
          </a:xfrm>
          <a:prstGeom prst="roundRect">
            <a:avLst>
              <a:gd name="adj" fmla="val 122519"/>
            </a:avLst>
          </a:prstGeom>
          <a:solidFill>
            <a:srgbClr val="F1F5F9"/>
          </a:solidFill>
          <a:ln/>
        </p:spPr>
      </p:sp>
      <p:sp>
        <p:nvSpPr>
          <p:cNvPr id="45" name="Shape 34"/>
          <p:cNvSpPr/>
          <p:nvPr/>
        </p:nvSpPr>
        <p:spPr>
          <a:xfrm>
            <a:off x="7477049" y="1904695"/>
            <a:ext cx="4172407" cy="9144"/>
          </a:xfrm>
          <a:prstGeom prst="roundRect">
            <a:avLst>
              <a:gd name="adj" fmla="val 7142857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7667244" y="1543507"/>
            <a:ext cx="21204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Antes: “teia” de dependências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10617098" y="1557223"/>
            <a:ext cx="10094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acoplamento alto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7629754" y="2066544"/>
            <a:ext cx="3866998" cy="2305202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3027" r="3027" t="0" b="0"/>
          <a:stretch/>
        </p:blipFill>
        <p:spPr>
          <a:xfrm>
            <a:off x="7638898" y="2076602"/>
            <a:ext cx="3847795" cy="2286000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7629754" y="4524451"/>
            <a:ext cx="3866998" cy="666598"/>
          </a:xfrm>
          <a:prstGeom prst="roundRect">
            <a:avLst>
              <a:gd name="adj" fmla="val 62708"/>
            </a:avLst>
          </a:prstGeom>
          <a:solidFill>
            <a:srgbClr val="0B1220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7753198" y="4685386"/>
            <a:ext cx="342900" cy="342900"/>
          </a:xfrm>
          <a:prstGeom prst="roundRect">
            <a:avLst>
              <a:gd name="adj" fmla="val 177778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847381" y="4780483"/>
            <a:ext cx="152705" cy="152705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8190281" y="4647895"/>
            <a:ext cx="1962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E7E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Sintoma</a:t>
            </a:r>
            <a:endParaRPr lang="en-US" sz="900" dirty="0"/>
          </a:p>
        </p:txBody>
      </p:sp>
      <p:sp>
        <p:nvSpPr>
          <p:cNvPr id="54" name="Text 41"/>
          <p:cNvSpPr txBox="1"/>
          <p:nvPr/>
        </p:nvSpPr>
        <p:spPr>
          <a:xfrm>
            <a:off x="8190281" y="4790542"/>
            <a:ext cx="196138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UI chama vários serviços diretamente.</a:t>
            </a:r>
            <a:endParaRPr lang="en-US" sz="900" dirty="0"/>
          </a:p>
        </p:txBody>
      </p:sp>
      <p:sp>
        <p:nvSpPr>
          <p:cNvPr id="55" name="Shape 42"/>
          <p:cNvSpPr/>
          <p:nvPr/>
        </p:nvSpPr>
        <p:spPr>
          <a:xfrm>
            <a:off x="10074859" y="4694530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10178186" y="4789627"/>
            <a:ext cx="114300" cy="133502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0472623" y="4670755"/>
            <a:ext cx="9628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Próximo: Facade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7543800" y="5502859"/>
            <a:ext cx="291327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Problema recorrente em apps desktop corporativas</a:t>
            </a:r>
            <a:endParaRPr lang="en-US" sz="90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10205618" y="5531206"/>
            <a:ext cx="105156" cy="114300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10386670" y="5502859"/>
            <a:ext cx="14282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GoF • Padrões Estruturais</a:t>
            </a:r>
            <a:endParaRPr lang="en-US" sz="900" dirty="0"/>
          </a:p>
        </p:txBody>
      </p:sp>
      <p:sp>
        <p:nvSpPr>
          <p:cNvPr id="61" name="Shape 46"/>
          <p:cNvSpPr/>
          <p:nvPr/>
        </p:nvSpPr>
        <p:spPr>
          <a:xfrm>
            <a:off x="1028700" y="6248095"/>
            <a:ext cx="11162995" cy="60990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1561795" y="6460236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63" name="Text 48"/>
          <p:cNvSpPr txBox="1"/>
          <p:nvPr/>
        </p:nvSpPr>
        <p:spPr>
          <a:xfrm>
            <a:off x="10070287" y="6460236"/>
            <a:ext cx="18937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2 • Contexto do Problema</a:t>
            </a:r>
            <a:endParaRPr lang="en-US" sz="900" dirty="0"/>
          </a:p>
        </p:txBody>
      </p:sp>
      <p:sp>
        <p:nvSpPr>
          <p:cNvPr id="64" name="Shape 49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0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385877" y="395021"/>
            <a:ext cx="256946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457200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0"/>
            <a:ext cx="39593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256946"/>
            <a:ext cx="395935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Ideia: 1 ponto de contato para acessar o “bastidor”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10439705" y="142646"/>
            <a:ext cx="152705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42" b="-842"/>
          <a:stretch/>
        </p:blipFill>
        <p:spPr>
          <a:xfrm>
            <a:off x="10896905" y="142646"/>
            <a:ext cx="190195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11358677" y="142646"/>
            <a:ext cx="219456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890626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847649"/>
            <a:ext cx="734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Conceito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1162202"/>
            <a:ext cx="582930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que é o </a:t>
            </a:r>
            <a:pPr algn="l" indent="0" marL="0">
              <a:buNone/>
            </a:pPr>
            <a:r>
              <a:rPr lang="en-US" sz="36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Padrão Facade</a:t>
            </a:r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 </a:t>
            </a:r>
            <a:endParaRPr lang="en-US" sz="3600" dirty="0"/>
          </a:p>
        </p:txBody>
      </p:sp>
      <p:sp>
        <p:nvSpPr>
          <p:cNvPr id="18" name="Text 12"/>
          <p:cNvSpPr txBox="1"/>
          <p:nvPr/>
        </p:nvSpPr>
        <p:spPr>
          <a:xfrm>
            <a:off x="1561795" y="2245766"/>
            <a:ext cx="57342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Uma </a:t>
            </a:r>
            <a:pPr algn="l" indent="0" marL="0">
              <a:buNone/>
            </a:pPr>
            <a:r>
              <a:rPr lang="en-US" sz="13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fachada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que expõe uma operação simples e esconde a complexidade do subsistema. 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61795" y="3009290"/>
            <a:ext cx="5658307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705356" y="3151937"/>
            <a:ext cx="437998" cy="437998"/>
          </a:xfrm>
          <a:prstGeom prst="roundRect">
            <a:avLst>
              <a:gd name="adj" fmla="val 127076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1828800" y="3285439"/>
            <a:ext cx="190195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257654" y="3151937"/>
            <a:ext cx="4934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ponto de entrada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2257654" y="3354934"/>
            <a:ext cx="4934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UI chama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método de alto nível (ex.: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FinalizarPedido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561795" y="3847795"/>
            <a:ext cx="5658307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705356" y="3990442"/>
            <a:ext cx="437998" cy="437998"/>
          </a:xfrm>
          <a:prstGeom prst="roundRect">
            <a:avLst>
              <a:gd name="adj" fmla="val 12707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837944" y="4123944"/>
            <a:ext cx="171907" cy="1719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257654" y="3990442"/>
            <a:ext cx="4934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Orquestração centralizada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2257654" y="4192524"/>
            <a:ext cx="4934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Estoque → Pagamento → Notificação em um único lugar.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1561795" y="4685386"/>
            <a:ext cx="5658307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705356" y="4828946"/>
            <a:ext cx="437998" cy="437998"/>
          </a:xfrm>
          <a:prstGeom prst="roundRect">
            <a:avLst>
              <a:gd name="adj" fmla="val 12707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1064" r="-1064" t="0" b="0"/>
          <a:stretch/>
        </p:blipFill>
        <p:spPr>
          <a:xfrm>
            <a:off x="1814170" y="4961534"/>
            <a:ext cx="219456" cy="17190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257654" y="4828946"/>
            <a:ext cx="4934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Menos acoplamento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2257654" y="5031029"/>
            <a:ext cx="4934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View deixa de conhecer detalhes e dependências do subsistema.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1561795" y="5676595"/>
            <a:ext cx="3819449" cy="571500"/>
          </a:xfrm>
          <a:prstGeom prst="roundRect">
            <a:avLst>
              <a:gd name="adj" fmla="val 85333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1705356" y="5800039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1809598" y="5895137"/>
            <a:ext cx="114300" cy="133502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2124151" y="5882335"/>
            <a:ext cx="369691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GoF: “interface unificada” para facilitar o subsistema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7467905" y="847649"/>
            <a:ext cx="4190695" cy="398129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7477049" y="857707"/>
            <a:ext cx="4172407" cy="533095"/>
          </a:xfrm>
          <a:prstGeom prst="roundRect">
            <a:avLst>
              <a:gd name="adj" fmla="val 122519"/>
            </a:avLst>
          </a:prstGeom>
          <a:solidFill>
            <a:srgbClr val="F1F5F9"/>
          </a:solidFill>
          <a:ln/>
        </p:spPr>
      </p:sp>
      <p:sp>
        <p:nvSpPr>
          <p:cNvPr id="40" name="Shape 30"/>
          <p:cNvSpPr/>
          <p:nvPr/>
        </p:nvSpPr>
        <p:spPr>
          <a:xfrm>
            <a:off x="7477049" y="1381658"/>
            <a:ext cx="4172407" cy="9144"/>
          </a:xfrm>
          <a:prstGeom prst="roundRect">
            <a:avLst>
              <a:gd name="adj" fmla="val 7142857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7667244" y="1019556"/>
            <a:ext cx="24825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Visual: Cliente → Facade → Serviços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10666476" y="1033272"/>
            <a:ext cx="952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fluxo organizado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7629754" y="1543507"/>
            <a:ext cx="3866998" cy="2305202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3027" r="3027" t="0" b="0"/>
          <a:stretch/>
        </p:blipFill>
        <p:spPr>
          <a:xfrm>
            <a:off x="7638898" y="1552651"/>
            <a:ext cx="3847795" cy="2286000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7629754" y="4000500"/>
            <a:ext cx="3866998" cy="666598"/>
          </a:xfrm>
          <a:prstGeom prst="roundRect">
            <a:avLst>
              <a:gd name="adj" fmla="val 62708"/>
            </a:avLst>
          </a:prstGeom>
          <a:solidFill>
            <a:srgbClr val="0B1220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7753198" y="4161434"/>
            <a:ext cx="314554" cy="342900"/>
          </a:xfrm>
          <a:prstGeom prst="roundRect">
            <a:avLst>
              <a:gd name="adj" fmla="val 21141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7839151" y="4256532"/>
            <a:ext cx="133502" cy="152705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8153705" y="4123944"/>
            <a:ext cx="226862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E7E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Ideia-chave</a:t>
            </a:r>
            <a:endParaRPr lang="en-US" sz="900" dirty="0"/>
          </a:p>
        </p:txBody>
      </p:sp>
      <p:sp>
        <p:nvSpPr>
          <p:cNvPr id="49" name="Text 37"/>
          <p:cNvSpPr txBox="1"/>
          <p:nvPr/>
        </p:nvSpPr>
        <p:spPr>
          <a:xfrm>
            <a:off x="8153705" y="4266590"/>
            <a:ext cx="22576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cliente fala com a “fachada”, não com os serviços.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10332720" y="4170578"/>
            <a:ext cx="295351" cy="323698"/>
          </a:xfrm>
          <a:prstGeom prst="roundRect">
            <a:avLst>
              <a:gd name="adj" fmla="val 239689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10419588" y="4265676"/>
            <a:ext cx="114300" cy="13350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10695737" y="4146804"/>
            <a:ext cx="7434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FDBF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Próximo: UML</a:t>
            </a:r>
            <a:endParaRPr lang="en-US" sz="900" dirty="0"/>
          </a:p>
        </p:txBody>
      </p:sp>
      <p:sp>
        <p:nvSpPr>
          <p:cNvPr id="53" name="Text 40"/>
          <p:cNvSpPr txBox="1"/>
          <p:nvPr/>
        </p:nvSpPr>
        <p:spPr>
          <a:xfrm>
            <a:off x="7543800" y="4978908"/>
            <a:ext cx="18818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Estrutural • Interface de alto nível</a:t>
            </a:r>
            <a:endParaRPr lang="en-US" sz="900" dirty="0"/>
          </a:p>
        </p:txBody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10792663" y="5007254"/>
            <a:ext cx="105156" cy="1143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973714" y="4978908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GoF • Facade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1028700" y="6628486"/>
            <a:ext cx="11162995" cy="237744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3"/>
          <p:cNvSpPr txBox="1"/>
          <p:nvPr/>
        </p:nvSpPr>
        <p:spPr>
          <a:xfrm>
            <a:off x="1561795" y="6650431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10444277" y="6650431"/>
            <a:ext cx="145115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3 • O que é Facade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6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385877" y="395021"/>
            <a:ext cx="256946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457200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0"/>
            <a:ext cx="454914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256946"/>
            <a:ext cx="4591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Estrutura do padrão: Client usa a Facade, que delega para subsistemas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760" r="-760" t="0" b="0"/>
          <a:stretch/>
        </p:blipFill>
        <p:spPr>
          <a:xfrm>
            <a:off x="10439705" y="142646"/>
            <a:ext cx="152705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06049" y="142646"/>
            <a:ext cx="171907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842" b="-842"/>
          <a:stretch/>
        </p:blipFill>
        <p:spPr>
          <a:xfrm>
            <a:off x="11373307" y="142646"/>
            <a:ext cx="190195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890626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847649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Estrutura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1162202"/>
            <a:ext cx="50538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Estrutura do Padrão </a:t>
            </a:r>
            <a:pPr algn="l" indent="0" marL="0">
              <a:buNone/>
            </a:pPr>
            <a:r>
              <a:rPr lang="en-US" sz="33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(UML)</a:t>
            </a:r>
            <a:endParaRPr lang="en-US" sz="3300" dirty="0"/>
          </a:p>
        </p:txBody>
      </p:sp>
      <p:sp>
        <p:nvSpPr>
          <p:cNvPr id="18" name="Text 12"/>
          <p:cNvSpPr txBox="1"/>
          <p:nvPr/>
        </p:nvSpPr>
        <p:spPr>
          <a:xfrm>
            <a:off x="1561795" y="2181758"/>
            <a:ext cx="49725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cliente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acessa uma </a:t>
            </a:r>
            <a:pPr algn="l" indent="0" marL="0">
              <a:buNone/>
            </a:pPr>
            <a:r>
              <a:rPr lang="en-US" sz="13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 de alto nível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que esconde a complexidade dos serviços. 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61795" y="2906878"/>
            <a:ext cx="4895698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705356" y="3050438"/>
            <a:ext cx="437998" cy="437998"/>
          </a:xfrm>
          <a:prstGeom prst="roundRect">
            <a:avLst>
              <a:gd name="adj" fmla="val 127076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2" b="-842"/>
          <a:stretch/>
        </p:blipFill>
        <p:spPr>
          <a:xfrm>
            <a:off x="1828800" y="3183026"/>
            <a:ext cx="190195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257654" y="3050438"/>
            <a:ext cx="4172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 (UI/View)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2257654" y="3252521"/>
            <a:ext cx="4743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Consome a funcionalidade via </a:t>
            </a:r>
            <a:pPr algn="l" indent="0" marL="0">
              <a:buNone/>
            </a:pPr>
            <a:r>
              <a:rPr lang="en-US" sz="9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Facade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(não conhece detalhes dos serviços).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561795" y="3745382"/>
            <a:ext cx="4895698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705356" y="3888029"/>
            <a:ext cx="437998" cy="437998"/>
          </a:xfrm>
          <a:prstGeom prst="roundRect">
            <a:avLst>
              <a:gd name="adj" fmla="val 12707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837944" y="4021531"/>
            <a:ext cx="171907" cy="17190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257654" y="3888029"/>
            <a:ext cx="4172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Facade (Fachada)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2257654" y="4091026"/>
            <a:ext cx="4743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Oferece operações de alto nível e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delega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execução para os subsistemas.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1561795" y="4583887"/>
            <a:ext cx="4895698" cy="724205"/>
          </a:xfrm>
          <a:prstGeom prst="roundRect">
            <a:avLst>
              <a:gd name="adj" fmla="val 5316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705356" y="4726534"/>
            <a:ext cx="437998" cy="437998"/>
          </a:xfrm>
          <a:prstGeom prst="roundRect">
            <a:avLst>
              <a:gd name="adj" fmla="val 12707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1828800" y="4860036"/>
            <a:ext cx="190195" cy="17190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257654" y="4726534"/>
            <a:ext cx="4172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Subsistemas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2257654" y="4928616"/>
            <a:ext cx="4172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Implementam a lógica real e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não conhecem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Facade.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1561795" y="5535778"/>
            <a:ext cx="4895698" cy="761695"/>
          </a:xfrm>
          <a:prstGeom prst="roundRect">
            <a:avLst>
              <a:gd name="adj" fmla="val 48019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1705356" y="5746090"/>
            <a:ext cx="276149" cy="342900"/>
          </a:xfrm>
          <a:prstGeom prst="roundRect">
            <a:avLst>
              <a:gd name="adj" fmla="val 274035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769" r="-769" t="0" b="0"/>
          <a:stretch/>
        </p:blipFill>
        <p:spPr>
          <a:xfrm>
            <a:off x="1751076" y="5845759"/>
            <a:ext cx="181051" cy="14264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2073859" y="5703113"/>
            <a:ext cx="26554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Efeito na arquitetura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2073859" y="5845759"/>
            <a:ext cx="2628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UI depende de </a:t>
            </a:r>
            <a:pPr algn="l" indent="0" marL="0">
              <a:buNone/>
            </a:pPr>
            <a:r>
              <a:rPr lang="en-US" sz="9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contrato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o acoplamento com serviços diminui.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735678" y="5660136"/>
            <a:ext cx="1580998" cy="514807"/>
          </a:xfrm>
          <a:prstGeom prst="roundRect">
            <a:avLst>
              <a:gd name="adj" fmla="val 78942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4840834" y="5860390"/>
            <a:ext cx="105156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021885" y="5660136"/>
            <a:ext cx="12481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 → Facade → Subsistemas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6705295" y="847649"/>
            <a:ext cx="4953305" cy="5695798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6715354" y="857707"/>
            <a:ext cx="4934102" cy="533095"/>
          </a:xfrm>
          <a:prstGeom prst="roundRect">
            <a:avLst>
              <a:gd name="adj" fmla="val 122519"/>
            </a:avLst>
          </a:prstGeom>
          <a:solidFill>
            <a:srgbClr val="F1F5F9"/>
          </a:solidFill>
          <a:ln/>
        </p:spPr>
      </p:sp>
      <p:sp>
        <p:nvSpPr>
          <p:cNvPr id="44" name="Shape 33"/>
          <p:cNvSpPr/>
          <p:nvPr/>
        </p:nvSpPr>
        <p:spPr>
          <a:xfrm>
            <a:off x="6715354" y="1381658"/>
            <a:ext cx="4934102" cy="9144"/>
          </a:xfrm>
          <a:prstGeom prst="roundRect">
            <a:avLst>
              <a:gd name="adj" fmla="val 7142857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6905549" y="1019556"/>
            <a:ext cx="24716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Diagrama visual (UML simplificado)</a:t>
            </a:r>
            <a:endParaRPr lang="en-US" sz="1000" dirty="0"/>
          </a:p>
        </p:txBody>
      </p:sp>
      <p:sp>
        <p:nvSpPr>
          <p:cNvPr id="46" name="Text 35"/>
          <p:cNvSpPr txBox="1"/>
          <p:nvPr/>
        </p:nvSpPr>
        <p:spPr>
          <a:xfrm>
            <a:off x="10892333" y="1033272"/>
            <a:ext cx="6803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 • delega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6905549" y="1580998"/>
            <a:ext cx="4552798" cy="3448202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13103" r="13103" t="0" b="0"/>
          <a:stretch/>
        </p:blipFill>
        <p:spPr>
          <a:xfrm>
            <a:off x="6915607" y="1591056"/>
            <a:ext cx="4533595" cy="3429000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6905549" y="5198364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7010705" y="5293462"/>
            <a:ext cx="114300" cy="133502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7324344" y="5181905"/>
            <a:ext cx="1619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Ponto de entrada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7324344" y="5367528"/>
            <a:ext cx="18370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 conversa só com a Facade</a:t>
            </a:r>
            <a:endParaRPr lang="en-US" sz="900" dirty="0"/>
          </a:p>
        </p:txBody>
      </p:sp>
      <p:sp>
        <p:nvSpPr>
          <p:cNvPr id="53" name="Shape 40"/>
          <p:cNvSpPr/>
          <p:nvPr/>
        </p:nvSpPr>
        <p:spPr>
          <a:xfrm>
            <a:off x="10093147" y="5188306"/>
            <a:ext cx="1371600" cy="342900"/>
          </a:xfrm>
          <a:prstGeom prst="round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10198303" y="5302606"/>
            <a:ext cx="133502" cy="1143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407701" y="5188306"/>
            <a:ext cx="10104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 unificada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6905549" y="5691226"/>
            <a:ext cx="4552798" cy="657454"/>
          </a:xfrm>
          <a:prstGeom prst="roundRect">
            <a:avLst>
              <a:gd name="adj" fmla="val 56439"/>
            </a:avLst>
          </a:prstGeom>
          <a:solidFill>
            <a:srgbClr val="0B1220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57" name="Text 43"/>
          <p:cNvSpPr txBox="1"/>
          <p:nvPr/>
        </p:nvSpPr>
        <p:spPr>
          <a:xfrm>
            <a:off x="7048195" y="5833872"/>
            <a:ext cx="4381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" kern="0" dirty="0">
                <a:solidFill>
                  <a:srgbClr val="E5E7E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Leitura rápida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7048195" y="6043270"/>
            <a:ext cx="4381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FDBF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usa</a:t>
            </a:r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Facade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 a</a:t>
            </a:r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Facade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delega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</a:t>
            </a:r>
            <a:pPr algn="l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Subsistemas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endParaRPr lang="en-US" sz="900" dirty="0"/>
          </a:p>
        </p:txBody>
      </p:sp>
      <p:sp>
        <p:nvSpPr>
          <p:cNvPr id="59" name="Text 45"/>
          <p:cNvSpPr txBox="1"/>
          <p:nvPr/>
        </p:nvSpPr>
        <p:spPr>
          <a:xfrm>
            <a:off x="6782105" y="6693408"/>
            <a:ext cx="249448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Estrutural • Separação de responsabilidades</a:t>
            </a:r>
            <a:endParaRPr lang="en-US" sz="900" dirty="0"/>
          </a:p>
        </p:txBody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10792663" y="6721754"/>
            <a:ext cx="105156" cy="114300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10973714" y="6693408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GoF • Facade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1028700" y="7245706"/>
            <a:ext cx="11162995" cy="19019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48"/>
          <p:cNvSpPr txBox="1"/>
          <p:nvPr/>
        </p:nvSpPr>
        <p:spPr>
          <a:xfrm>
            <a:off x="1561795" y="7245706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64" name="Text 49"/>
          <p:cNvSpPr txBox="1"/>
          <p:nvPr/>
        </p:nvSpPr>
        <p:spPr>
          <a:xfrm>
            <a:off x="9867290" y="7245706"/>
            <a:ext cx="21424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4 • Estrutura do Padrão (UML)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51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385877" y="395021"/>
            <a:ext cx="256946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457200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0"/>
            <a:ext cx="397032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256946"/>
            <a:ext cx="39703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Implementação no projeto: orquestração com </a:t>
            </a:r>
            <a:pPr algn="l" indent="0" marL="0">
              <a:buNone/>
            </a:pPr>
            <a:r>
              <a:rPr lang="en-US" sz="10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VendaFacade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42" b="-842"/>
          <a:stretch/>
        </p:blipFill>
        <p:spPr>
          <a:xfrm>
            <a:off x="10420502" y="142646"/>
            <a:ext cx="190195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06049" y="142646"/>
            <a:ext cx="171907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448" b="-1448"/>
          <a:stretch/>
        </p:blipFill>
        <p:spPr>
          <a:xfrm>
            <a:off x="11387023" y="142646"/>
            <a:ext cx="161849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966521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923544"/>
            <a:ext cx="11878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Implementação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1238098"/>
            <a:ext cx="50538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Implementação no Projeto </a:t>
            </a:r>
            <a:pPr algn="l" indent="0" marL="0">
              <a:buNone/>
            </a:pPr>
            <a:r>
              <a:rPr lang="en-US" sz="33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(Arquitetura)</a:t>
            </a:r>
            <a:endParaRPr lang="en-US" sz="3300" dirty="0"/>
          </a:p>
        </p:txBody>
      </p:sp>
      <p:sp>
        <p:nvSpPr>
          <p:cNvPr id="18" name="Text 12"/>
          <p:cNvSpPr txBox="1"/>
          <p:nvPr/>
        </p:nvSpPr>
        <p:spPr>
          <a:xfrm>
            <a:off x="1561795" y="2257654"/>
            <a:ext cx="50109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chama 1 método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a </a:t>
            </a:r>
            <a:pPr algn="l" indent="0" marL="0">
              <a:buNone/>
            </a:pPr>
            <a:r>
              <a:rPr lang="en-US" sz="13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Facade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coordena o fluxo. 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61795" y="2734970"/>
            <a:ext cx="342900" cy="342900"/>
          </a:xfrm>
          <a:prstGeom prst="roundRect">
            <a:avLst>
              <a:gd name="adj" fmla="val 177778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-428" r="-428" t="0" b="0"/>
          <a:stretch/>
        </p:blipFill>
        <p:spPr>
          <a:xfrm>
            <a:off x="1652321" y="2834640"/>
            <a:ext cx="161849" cy="14264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2018995" y="2734970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(WPF) fica simples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2018995" y="2963570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 chamar serviços diretamente.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1561795" y="3245206"/>
            <a:ext cx="342900" cy="342900"/>
          </a:xfrm>
          <a:prstGeom prst="roundRect">
            <a:avLst>
              <a:gd name="adj" fmla="val 177778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662379" y="3344875"/>
            <a:ext cx="142646" cy="14264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2018995" y="3245206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VendaFacade orquestra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2018995" y="3473806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Estoque → Pagamento → Notificação.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1561795" y="3754526"/>
            <a:ext cx="342900" cy="342900"/>
          </a:xfrm>
          <a:prstGeom prst="roundRect">
            <a:avLst>
              <a:gd name="adj" fmla="val 177778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-428" r="-428" t="0" b="0"/>
          <a:stretch/>
        </p:blipFill>
        <p:spPr>
          <a:xfrm>
            <a:off x="1652321" y="3855110"/>
            <a:ext cx="161849" cy="14264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018995" y="3754526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Services continuam independentes</a:t>
            </a:r>
            <a:endParaRPr lang="en-US" sz="1200" dirty="0"/>
          </a:p>
        </p:txBody>
      </p:sp>
      <p:sp>
        <p:nvSpPr>
          <p:cNvPr id="30" name="Text 21"/>
          <p:cNvSpPr txBox="1"/>
          <p:nvPr/>
        </p:nvSpPr>
        <p:spPr>
          <a:xfrm>
            <a:off x="2018995" y="3983126"/>
            <a:ext cx="4553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um com uma responsabilidade.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1561795" y="4379062"/>
            <a:ext cx="2333549" cy="409651"/>
          </a:xfrm>
          <a:prstGeom prst="roundRect">
            <a:avLst>
              <a:gd name="adj" fmla="val 145349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1686154" y="4507992"/>
            <a:ext cx="190195" cy="1527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971446" y="4379062"/>
            <a:ext cx="187269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UI: </a:t>
            </a:r>
            <a:pPr algn="l" indent="0" marL="0">
              <a:buNone/>
            </a:pPr>
            <a:r>
              <a:rPr lang="en-US" sz="1000" b="1" dirty="0">
                <a:solidFill>
                  <a:srgbClr val="0B3A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FinalizarPedido(...)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1561795" y="4883810"/>
            <a:ext cx="3143707" cy="362102"/>
          </a:xfrm>
          <a:prstGeom prst="roundRect">
            <a:avLst>
              <a:gd name="adj" fmla="val 159490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-1613" r="-1613" t="0" b="0"/>
          <a:stretch/>
        </p:blipFill>
        <p:spPr>
          <a:xfrm>
            <a:off x="1666951" y="4996282"/>
            <a:ext cx="133502" cy="133502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895551" y="4883810"/>
            <a:ext cx="27816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github.com/OtavioHub97/sa-design-patterns-wpf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6705295" y="923544"/>
            <a:ext cx="4953305" cy="5734202"/>
          </a:xfrm>
          <a:prstGeom prst="roundRect">
            <a:avLst>
              <a:gd name="adj" fmla="val 1420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6715354" y="933602"/>
            <a:ext cx="4934102" cy="533095"/>
          </a:xfrm>
          <a:prstGeom prst="roundRect">
            <a:avLst>
              <a:gd name="adj" fmla="val 122519"/>
            </a:avLst>
          </a:prstGeom>
          <a:solidFill>
            <a:srgbClr val="F1F5F9"/>
          </a:solidFill>
          <a:ln/>
        </p:spPr>
      </p:sp>
      <p:sp>
        <p:nvSpPr>
          <p:cNvPr id="39" name="Shape 28"/>
          <p:cNvSpPr/>
          <p:nvPr/>
        </p:nvSpPr>
        <p:spPr>
          <a:xfrm>
            <a:off x="6715354" y="1457554"/>
            <a:ext cx="4934102" cy="9144"/>
          </a:xfrm>
          <a:prstGeom prst="roundRect">
            <a:avLst>
              <a:gd name="adj" fmla="val 7142857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6905549" y="1095451"/>
            <a:ext cx="12929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Fluxo em camadas</a:t>
            </a:r>
            <a:endParaRPr lang="en-US" sz="1000" dirty="0"/>
          </a:p>
        </p:txBody>
      </p:sp>
      <p:sp>
        <p:nvSpPr>
          <p:cNvPr id="41" name="Text 30"/>
          <p:cNvSpPr txBox="1"/>
          <p:nvPr/>
        </p:nvSpPr>
        <p:spPr>
          <a:xfrm>
            <a:off x="10330891" y="1110082"/>
            <a:ext cx="13496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→ Facade → Services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6905549" y="1657807"/>
            <a:ext cx="4552798" cy="3353105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rcRect l="12051" r="12051" t="0" b="0"/>
          <a:stretch/>
        </p:blipFill>
        <p:spPr>
          <a:xfrm>
            <a:off x="6915607" y="1666951"/>
            <a:ext cx="4533595" cy="333390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905549" y="5179162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000646" y="5274259"/>
            <a:ext cx="133502" cy="133502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324344" y="5162702"/>
            <a:ext cx="141732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Contrato alto nível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7324344" y="5348326"/>
            <a:ext cx="141732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depende só da Facade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10385755" y="5170018"/>
            <a:ext cx="1076249" cy="342900"/>
          </a:xfrm>
          <a:prstGeom prst="round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80" b="-80"/>
          <a:stretch/>
        </p:blipFill>
        <p:spPr>
          <a:xfrm>
            <a:off x="10490911" y="5284318"/>
            <a:ext cx="142646" cy="114300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10710367" y="5170018"/>
            <a:ext cx="7050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Desacoplado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6905549" y="5672023"/>
            <a:ext cx="4552798" cy="790956"/>
          </a:xfrm>
          <a:prstGeom prst="roundRect">
            <a:avLst>
              <a:gd name="adj" fmla="val 39000"/>
            </a:avLst>
          </a:prstGeom>
          <a:solidFill>
            <a:srgbClr val="0B1220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52" name="Text 38"/>
          <p:cNvSpPr txBox="1"/>
          <p:nvPr/>
        </p:nvSpPr>
        <p:spPr>
          <a:xfrm>
            <a:off x="7048195" y="5814670"/>
            <a:ext cx="43434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UI (WPF)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facade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FinalizarPedido</a:t>
            </a:r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(dados);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fluxo ocorre internamente</a:t>
            </a:r>
            <a:endParaRPr lang="en-US" sz="900" dirty="0"/>
          </a:p>
        </p:txBody>
      </p:sp>
      <p:sp>
        <p:nvSpPr>
          <p:cNvPr id="53" name="Text 39"/>
          <p:cNvSpPr txBox="1"/>
          <p:nvPr/>
        </p:nvSpPr>
        <p:spPr>
          <a:xfrm>
            <a:off x="6782105" y="6807708"/>
            <a:ext cx="22329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Arquitetura • Orquestração centralizada</a:t>
            </a:r>
            <a:endParaRPr lang="en-US" sz="9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rcRect l="-2571" r="-2571" t="0" b="0"/>
          <a:stretch/>
        </p:blipFill>
        <p:spPr>
          <a:xfrm>
            <a:off x="10792663" y="6836054"/>
            <a:ext cx="105156" cy="114300"/>
          </a:xfrm>
          <a:prstGeom prst="rect">
            <a:avLst/>
          </a:prstGeom>
        </p:spPr>
      </p:pic>
      <p:sp>
        <p:nvSpPr>
          <p:cNvPr id="55" name="Text 40"/>
          <p:cNvSpPr txBox="1"/>
          <p:nvPr/>
        </p:nvSpPr>
        <p:spPr>
          <a:xfrm>
            <a:off x="10973714" y="6807708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GoF • Facade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1028700" y="7435901"/>
            <a:ext cx="11162995" cy="19019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1561795" y="7435901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58" name="Text 43"/>
          <p:cNvSpPr txBox="1"/>
          <p:nvPr/>
        </p:nvSpPr>
        <p:spPr>
          <a:xfrm>
            <a:off x="9849917" y="7435901"/>
            <a:ext cx="2154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5 • Implementação no Projeto</a:t>
            </a:r>
            <a:endParaRPr lang="en-US" sz="900" dirty="0"/>
          </a:p>
        </p:txBody>
      </p:sp>
      <p:sp>
        <p:nvSpPr>
          <p:cNvPr id="59" name="Shape 44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46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0507" y="395021"/>
            <a:ext cx="228600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981151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261518"/>
            <a:ext cx="46963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519379"/>
            <a:ext cx="52678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Comparação prática: UI orquestra serviços vs UI chama uma operação de alto nível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10405872" y="405079"/>
            <a:ext cx="219456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06049" y="405079"/>
            <a:ext cx="171907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382451" y="405079"/>
            <a:ext cx="171907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1428293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57807" y="1523390"/>
            <a:ext cx="133502" cy="1335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981505" y="1371600"/>
            <a:ext cx="207111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1981505" y="1623060"/>
            <a:ext cx="23692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 Facade (UI acoplada aos serviços)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835347" y="1418234"/>
            <a:ext cx="1447495" cy="342900"/>
          </a:xfrm>
          <a:prstGeom prst="roundRect">
            <a:avLst>
              <a:gd name="adj" fmla="val 266667"/>
            </a:avLst>
          </a:prstGeom>
          <a:solidFill>
            <a:srgbClr val="FFF5F5"/>
          </a:solidFill>
          <a:ln w="12700">
            <a:solidFill>
              <a:srgbClr val="B91C1C">
                <a:alpha val="25000"/>
              </a:srgbClr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4939589" y="1532534"/>
            <a:ext cx="85954" cy="1143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101438" y="1418234"/>
            <a:ext cx="1133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F1D1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muitas dependências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1561795" y="1922983"/>
            <a:ext cx="4714646" cy="3258007"/>
          </a:xfrm>
          <a:prstGeom prst="roundRect">
            <a:avLst>
              <a:gd name="adj" fmla="val 2954"/>
            </a:avLst>
          </a:prstGeom>
          <a:solidFill>
            <a:srgbClr val="0B1220"/>
          </a:solidFill>
          <a:ln w="12700">
            <a:solidFill>
              <a:srgbClr val="B91C1C">
                <a:alpha val="25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1742846" y="2113178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1828800" y="2189988"/>
            <a:ext cx="114300" cy="13350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2124151" y="2163470"/>
            <a:ext cx="1371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faz a orquestração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5200193" y="2104034"/>
            <a:ext cx="905256" cy="304495"/>
          </a:xfrm>
          <a:prstGeom prst="roundRect">
            <a:avLst>
              <a:gd name="adj" fmla="val 300300"/>
            </a:avLst>
          </a:prstGeom>
          <a:solidFill>
            <a:srgbClr val="B91C1C">
              <a:alpha val="10000"/>
            </a:srgbClr>
          </a:solidFill>
          <a:ln w="12700">
            <a:solidFill>
              <a:srgbClr val="B91C1C">
                <a:alpha val="28000"/>
              </a:srgbClr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5305349" y="2170786"/>
            <a:ext cx="771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 serviços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1742846" y="2503627"/>
            <a:ext cx="4429354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var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pedido = 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CriarPedidoDaTela()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pPr algn="l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EstoqueService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().</a:t>
            </a:r>
            <a:pPr algn="l"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Validar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(pedido);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pPr algn="l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PagamentoService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().</a:t>
            </a:r>
            <a:pPr algn="l"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Processar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(pedido);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pPr algn="l"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NotificacaoService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().</a:t>
            </a:r>
            <a:pPr algn="l"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Enviar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(pedido); 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1742846" y="3498494"/>
            <a:ext cx="4352544" cy="390449"/>
          </a:xfrm>
          <a:prstGeom prst="roundRect">
            <a:avLst>
              <a:gd name="adj" fmla="val 159936"/>
            </a:avLst>
          </a:prstGeom>
          <a:solidFill>
            <a:srgbClr val="B91C1C">
              <a:alpha val="10000"/>
            </a:srgbClr>
          </a:solidFill>
          <a:ln w="12700">
            <a:solidFill>
              <a:srgbClr val="B91C1C">
                <a:alpha val="18000"/>
              </a:srgbClr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867205" y="3625596"/>
            <a:ext cx="133502" cy="1335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2095805" y="3498494"/>
            <a:ext cx="24003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ECAC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Regra/ordem muda? Você altera várias telas.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1561795" y="5290718"/>
            <a:ext cx="2314346" cy="580644"/>
          </a:xfrm>
          <a:prstGeom prst="roundRect">
            <a:avLst>
              <a:gd name="adj" fmla="val 82613"/>
            </a:avLst>
          </a:prstGeom>
          <a:solidFill>
            <a:srgbClr val="FFFFFF"/>
          </a:solidFill>
          <a:ln w="12700">
            <a:solidFill>
              <a:srgbClr val="B91C1C">
                <a:alpha val="18000"/>
              </a:srgbClr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686154" y="5415077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762049" y="5490972"/>
            <a:ext cx="133502" cy="1335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2066544" y="5415077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Fluxo espalhado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2066544" y="5600700"/>
            <a:ext cx="198790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tela “faz de um jeito”.</a:t>
            </a:r>
            <a:endParaRPr lang="en-US" sz="900" dirty="0"/>
          </a:p>
        </p:txBody>
      </p:sp>
      <p:sp>
        <p:nvSpPr>
          <p:cNvPr id="37" name="Shape 26"/>
          <p:cNvSpPr/>
          <p:nvPr/>
        </p:nvSpPr>
        <p:spPr>
          <a:xfrm>
            <a:off x="3967582" y="5290718"/>
            <a:ext cx="2314346" cy="580644"/>
          </a:xfrm>
          <a:prstGeom prst="roundRect">
            <a:avLst>
              <a:gd name="adj" fmla="val 82613"/>
            </a:avLst>
          </a:prstGeom>
          <a:solidFill>
            <a:srgbClr val="FFFFFF"/>
          </a:solidFill>
          <a:ln w="12700">
            <a:solidFill>
              <a:srgbClr val="B91C1C">
                <a:alpha val="18000"/>
              </a:srgbClr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4091026" y="5415077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166921" y="5490972"/>
            <a:ext cx="133502" cy="13350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4472330" y="5415077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Testes frágeis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4472330" y="5600700"/>
            <a:ext cx="1762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presa a integrações.</a:t>
            </a:r>
            <a:endParaRPr lang="en-US" sz="900" dirty="0"/>
          </a:p>
        </p:txBody>
      </p:sp>
      <p:sp>
        <p:nvSpPr>
          <p:cNvPr id="42" name="Shape 30"/>
          <p:cNvSpPr/>
          <p:nvPr/>
        </p:nvSpPr>
        <p:spPr>
          <a:xfrm>
            <a:off x="6448349" y="3457346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F1F5F9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6553505" y="3552444"/>
            <a:ext cx="114300" cy="133502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6943954" y="1428293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7048195" y="1523390"/>
            <a:ext cx="114300" cy="133502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7362749" y="1371600"/>
            <a:ext cx="17913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</a:t>
            </a:r>
            <a:endParaRPr lang="en-US" sz="1800" dirty="0"/>
          </a:p>
        </p:txBody>
      </p:sp>
      <p:sp>
        <p:nvSpPr>
          <p:cNvPr id="47" name="Text 33"/>
          <p:cNvSpPr txBox="1"/>
          <p:nvPr/>
        </p:nvSpPr>
        <p:spPr>
          <a:xfrm>
            <a:off x="7362749" y="1623060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 Facade (1 ponto de entrada)</a:t>
            </a:r>
            <a:endParaRPr lang="en-US" sz="900" dirty="0"/>
          </a:p>
        </p:txBody>
      </p:sp>
      <p:sp>
        <p:nvSpPr>
          <p:cNvPr id="48" name="Shape 34"/>
          <p:cNvSpPr/>
          <p:nvPr/>
        </p:nvSpPr>
        <p:spPr>
          <a:xfrm>
            <a:off x="10524744" y="1418234"/>
            <a:ext cx="1133856" cy="342900"/>
          </a:xfrm>
          <a:prstGeom prst="roundRect">
            <a:avLst>
              <a:gd name="adj" fmla="val 266667"/>
            </a:avLst>
          </a:prstGeom>
          <a:solidFill>
            <a:srgbClr val="F0FDF4"/>
          </a:solidFill>
          <a:ln w="12700">
            <a:solidFill>
              <a:srgbClr val="047857">
                <a:alpha val="25000"/>
              </a:srgbClr>
            </a:solidFill>
            <a:prstDash val="solid"/>
          </a:ln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629900" y="1532534"/>
            <a:ext cx="114300" cy="114300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10820095" y="1418234"/>
            <a:ext cx="790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dependência</a:t>
            </a:r>
            <a:endParaRPr lang="en-US" sz="900" dirty="0"/>
          </a:p>
        </p:txBody>
      </p:sp>
      <p:sp>
        <p:nvSpPr>
          <p:cNvPr id="51" name="Shape 36"/>
          <p:cNvSpPr/>
          <p:nvPr/>
        </p:nvSpPr>
        <p:spPr>
          <a:xfrm>
            <a:off x="6943954" y="1922983"/>
            <a:ext cx="4714646" cy="2553005"/>
          </a:xfrm>
          <a:prstGeom prst="roundRect">
            <a:avLst>
              <a:gd name="adj" fmla="val 4811"/>
            </a:avLst>
          </a:prstGeom>
          <a:solidFill>
            <a:srgbClr val="0B1220"/>
          </a:solidFill>
          <a:ln w="12700">
            <a:solidFill>
              <a:srgbClr val="047857">
                <a:alpha val="25000"/>
              </a:srgbClr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7125005" y="2113178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-837" r="-837" t="0" b="0"/>
          <a:stretch/>
        </p:blipFill>
        <p:spPr>
          <a:xfrm>
            <a:off x="7191756" y="2189988"/>
            <a:ext cx="152705" cy="133502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7505395" y="2163470"/>
            <a:ext cx="1564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chama uma operação</a:t>
            </a:r>
            <a:endParaRPr lang="en-US" sz="900" dirty="0"/>
          </a:p>
        </p:txBody>
      </p:sp>
      <p:sp>
        <p:nvSpPr>
          <p:cNvPr id="55" name="Shape 39"/>
          <p:cNvSpPr/>
          <p:nvPr/>
        </p:nvSpPr>
        <p:spPr>
          <a:xfrm>
            <a:off x="10788091" y="2104034"/>
            <a:ext cx="694944" cy="304495"/>
          </a:xfrm>
          <a:prstGeom prst="roundRect">
            <a:avLst>
              <a:gd name="adj" fmla="val 300300"/>
            </a:avLst>
          </a:prstGeom>
          <a:solidFill>
            <a:srgbClr val="047857">
              <a:alpha val="10000"/>
            </a:srgbClr>
          </a:solidFill>
          <a:ln w="12700">
            <a:solidFill>
              <a:srgbClr val="047857">
                <a:alpha val="28000"/>
              </a:srgbClr>
            </a:solidFill>
            <a:prstDash val="solid"/>
          </a:ln>
        </p:spPr>
      </p:sp>
      <p:sp>
        <p:nvSpPr>
          <p:cNvPr id="56" name="Text 40"/>
          <p:cNvSpPr txBox="1"/>
          <p:nvPr/>
        </p:nvSpPr>
        <p:spPr>
          <a:xfrm>
            <a:off x="10892333" y="2170786"/>
            <a:ext cx="562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 linha</a:t>
            </a:r>
            <a:endParaRPr lang="en-US" sz="900" dirty="0"/>
          </a:p>
        </p:txBody>
      </p:sp>
      <p:sp>
        <p:nvSpPr>
          <p:cNvPr id="57" name="Text 41"/>
          <p:cNvSpPr txBox="1"/>
          <p:nvPr/>
        </p:nvSpPr>
        <p:spPr>
          <a:xfrm>
            <a:off x="7125005" y="2503627"/>
            <a:ext cx="4429354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var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pedido = 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CriarPedidoDaTela()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var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facade = 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new</a:t>
            </a:r>
            <a:pPr algn="l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VendaFacade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...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facade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pPr algn="l"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FinalizarPedido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(pedido);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estoque → pagamento → notificação</a:t>
            </a:r>
            <a:endParaRPr lang="en-US" sz="1000" dirty="0"/>
          </a:p>
        </p:txBody>
      </p:sp>
      <p:sp>
        <p:nvSpPr>
          <p:cNvPr id="58" name="Shape 42"/>
          <p:cNvSpPr/>
          <p:nvPr/>
        </p:nvSpPr>
        <p:spPr>
          <a:xfrm>
            <a:off x="7125005" y="3498494"/>
            <a:ext cx="4352544" cy="390449"/>
          </a:xfrm>
          <a:prstGeom prst="roundRect">
            <a:avLst>
              <a:gd name="adj" fmla="val 159936"/>
            </a:avLst>
          </a:prstGeom>
          <a:solidFill>
            <a:srgbClr val="047857">
              <a:alpha val="10000"/>
            </a:srgbClr>
          </a:solidFill>
          <a:ln w="12700">
            <a:solidFill>
              <a:srgbClr val="047857">
                <a:alpha val="18000"/>
              </a:srgbClr>
            </a:solidFill>
            <a:prstDash val="solid"/>
          </a:ln>
        </p:spPr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7248449" y="3625596"/>
            <a:ext cx="133502" cy="133502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7477049" y="3498494"/>
            <a:ext cx="24771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FAE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Mudou o fluxo? Ajuste centralizado na Facade.</a:t>
            </a:r>
            <a:endParaRPr lang="en-US" sz="900" dirty="0"/>
          </a:p>
        </p:txBody>
      </p:sp>
      <p:sp>
        <p:nvSpPr>
          <p:cNvPr id="61" name="Shape 44"/>
          <p:cNvSpPr/>
          <p:nvPr/>
        </p:nvSpPr>
        <p:spPr>
          <a:xfrm>
            <a:off x="6943954" y="4586630"/>
            <a:ext cx="2314346" cy="580644"/>
          </a:xfrm>
          <a:prstGeom prst="roundRect">
            <a:avLst>
              <a:gd name="adj" fmla="val 8261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62" name="Shape 45"/>
          <p:cNvSpPr/>
          <p:nvPr/>
        </p:nvSpPr>
        <p:spPr>
          <a:xfrm>
            <a:off x="7067398" y="4710074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3" name="Image 15" descr="preencoded.png">    </p:cNvPr>
          <p:cNvPicPr>
            <a:picLocks noChangeAspect="1"/>
          </p:cNvPicPr>
          <p:nvPr/>
        </p:nvPicPr>
        <p:blipFill>
          <a:blip r:embed="rId16"/>
          <a:srcRect l="-1507" r="-1507" t="0" b="0"/>
          <a:stretch/>
        </p:blipFill>
        <p:spPr>
          <a:xfrm>
            <a:off x="7125005" y="4785970"/>
            <a:ext cx="171907" cy="133502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7448702" y="4710074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Menos acoplamento</a:t>
            </a:r>
            <a:endParaRPr lang="en-US" sz="900" dirty="0"/>
          </a:p>
        </p:txBody>
      </p:sp>
      <p:sp>
        <p:nvSpPr>
          <p:cNvPr id="65" name="Text 47"/>
          <p:cNvSpPr txBox="1"/>
          <p:nvPr/>
        </p:nvSpPr>
        <p:spPr>
          <a:xfrm>
            <a:off x="7448702" y="4895698"/>
            <a:ext cx="191932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não conhece subsistemas.</a:t>
            </a:r>
            <a:endParaRPr lang="en-US" sz="900" dirty="0"/>
          </a:p>
        </p:txBody>
      </p:sp>
      <p:sp>
        <p:nvSpPr>
          <p:cNvPr id="66" name="Shape 48"/>
          <p:cNvSpPr/>
          <p:nvPr/>
        </p:nvSpPr>
        <p:spPr>
          <a:xfrm>
            <a:off x="9348826" y="4586630"/>
            <a:ext cx="2314346" cy="580644"/>
          </a:xfrm>
          <a:prstGeom prst="roundRect">
            <a:avLst>
              <a:gd name="adj" fmla="val 8261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9472270" y="4710074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8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9549079" y="4785970"/>
            <a:ext cx="133502" cy="133502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9853574" y="4710074"/>
            <a:ext cx="17629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Mais testável</a:t>
            </a:r>
            <a:endParaRPr lang="en-US" sz="900" dirty="0"/>
          </a:p>
        </p:txBody>
      </p:sp>
      <p:sp>
        <p:nvSpPr>
          <p:cNvPr id="70" name="Text 51"/>
          <p:cNvSpPr txBox="1"/>
          <p:nvPr/>
        </p:nvSpPr>
        <p:spPr>
          <a:xfrm>
            <a:off x="9853574" y="4895698"/>
            <a:ext cx="17629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Mock da Facade.</a:t>
            </a:r>
            <a:endParaRPr lang="en-US" sz="900" dirty="0"/>
          </a:p>
        </p:txBody>
      </p:sp>
      <p:sp>
        <p:nvSpPr>
          <p:cNvPr id="71" name="Shape 52"/>
          <p:cNvSpPr/>
          <p:nvPr/>
        </p:nvSpPr>
        <p:spPr>
          <a:xfrm>
            <a:off x="6943954" y="5277002"/>
            <a:ext cx="4714646" cy="590702"/>
          </a:xfrm>
          <a:prstGeom prst="roundRect">
            <a:avLst>
              <a:gd name="adj" fmla="val 79896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72" name="Shape 53"/>
          <p:cNvSpPr/>
          <p:nvPr/>
        </p:nvSpPr>
        <p:spPr>
          <a:xfrm>
            <a:off x="7086600" y="5410505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3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7181698" y="5505602"/>
            <a:ext cx="133502" cy="133502"/>
          </a:xfrm>
          <a:prstGeom prst="rect">
            <a:avLst/>
          </a:prstGeom>
        </p:spPr>
      </p:pic>
      <p:sp>
        <p:nvSpPr>
          <p:cNvPr id="74" name="Text 54"/>
          <p:cNvSpPr txBox="1"/>
          <p:nvPr/>
        </p:nvSpPr>
        <p:spPr>
          <a:xfrm>
            <a:off x="7505395" y="5407762"/>
            <a:ext cx="1714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Mensagem</a:t>
            </a:r>
            <a:endParaRPr lang="en-US" sz="900" dirty="0"/>
          </a:p>
        </p:txBody>
      </p:sp>
      <p:sp>
        <p:nvSpPr>
          <p:cNvPr id="75" name="Text 55"/>
          <p:cNvSpPr txBox="1"/>
          <p:nvPr/>
        </p:nvSpPr>
        <p:spPr>
          <a:xfrm>
            <a:off x="7505395" y="5593385"/>
            <a:ext cx="195041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Facade vira a “API interna” da UI.</a:t>
            </a:r>
            <a:endParaRPr lang="en-US" sz="900" dirty="0"/>
          </a:p>
        </p:txBody>
      </p:sp>
      <p:sp>
        <p:nvSpPr>
          <p:cNvPr id="76" name="Shape 56"/>
          <p:cNvSpPr/>
          <p:nvPr/>
        </p:nvSpPr>
        <p:spPr>
          <a:xfrm>
            <a:off x="10139782" y="5400446"/>
            <a:ext cx="1380744" cy="342900"/>
          </a:xfrm>
          <a:prstGeom prst="round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77" name="Text 57"/>
          <p:cNvSpPr txBox="1"/>
          <p:nvPr/>
        </p:nvSpPr>
        <p:spPr>
          <a:xfrm>
            <a:off x="10244938" y="5486400"/>
            <a:ext cx="12481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3A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FinalizarPedido()</a:t>
            </a:r>
            <a:endParaRPr lang="en-US" sz="900" dirty="0"/>
          </a:p>
        </p:txBody>
      </p:sp>
      <p:sp>
        <p:nvSpPr>
          <p:cNvPr id="78" name="Shape 58"/>
          <p:cNvSpPr/>
          <p:nvPr/>
        </p:nvSpPr>
        <p:spPr>
          <a:xfrm>
            <a:off x="1028700" y="6248095"/>
            <a:ext cx="11162995" cy="60990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59"/>
          <p:cNvSpPr txBox="1"/>
          <p:nvPr/>
        </p:nvSpPr>
        <p:spPr>
          <a:xfrm>
            <a:off x="1561795" y="6460236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80" name="Text 60"/>
          <p:cNvSpPr txBox="1"/>
          <p:nvPr/>
        </p:nvSpPr>
        <p:spPr>
          <a:xfrm>
            <a:off x="9473184" y="6460236"/>
            <a:ext cx="26078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6 • Código na Prática (Antes x Depois)</a:t>
            </a:r>
            <a:endParaRPr lang="en-US" sz="900" dirty="0"/>
          </a:p>
        </p:txBody>
      </p:sp>
      <p:sp>
        <p:nvSpPr>
          <p:cNvPr id="81" name="Shape 61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62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63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80" r="-80" t="0" b="0"/>
          <a:stretch/>
        </p:blipFill>
        <p:spPr>
          <a:xfrm>
            <a:off x="371246" y="395021"/>
            <a:ext cx="286207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790956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164592"/>
            <a:ext cx="409102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421538"/>
            <a:ext cx="409102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Análise crítica: benefícios, trade-offs e cuidados de arquitetura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20208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29646" y="307238"/>
            <a:ext cx="171907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20208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06049" y="307238"/>
            <a:ext cx="171907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202082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382451" y="307238"/>
            <a:ext cx="171907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1295705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1252728"/>
            <a:ext cx="8183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Avaliação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1567282"/>
            <a:ext cx="4157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Vantagens &amp; </a:t>
            </a:r>
            <a:pPr algn="l" indent="0" marL="0">
              <a:buNone/>
            </a:pPr>
            <a:r>
              <a:rPr lang="en-US" sz="33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Desvantagens</a:t>
            </a:r>
            <a:endParaRPr lang="en-US" sz="3300" dirty="0"/>
          </a:p>
        </p:txBody>
      </p:sp>
      <p:sp>
        <p:nvSpPr>
          <p:cNvPr id="18" name="Text 12"/>
          <p:cNvSpPr txBox="1"/>
          <p:nvPr/>
        </p:nvSpPr>
        <p:spPr>
          <a:xfrm>
            <a:off x="1561795" y="2585923"/>
            <a:ext cx="40773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Ideia: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simplificar a UI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 uma API de alto nível. Cuidado: não deixar a fachada virar um “super-classe”. 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61795" y="3350362"/>
            <a:ext cx="4000500" cy="828446"/>
          </a:xfrm>
          <a:prstGeom prst="roundRect">
            <a:avLst>
              <a:gd name="adj" fmla="val 40598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705356" y="3493008"/>
            <a:ext cx="381305" cy="381305"/>
          </a:xfrm>
          <a:prstGeom prst="roundRect">
            <a:avLst>
              <a:gd name="adj" fmla="val 16786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809598" y="3598164"/>
            <a:ext cx="171907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200046" y="3493008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Mensagem principal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2200046" y="3693262"/>
            <a:ext cx="32964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UI chama </a:t>
            </a:r>
            <a:pPr algn="l" indent="0" marL="0">
              <a:buNone/>
            </a:pPr>
            <a:r>
              <a:rPr lang="en-US" sz="9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método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(ex.: </a:t>
            </a:r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FinalizarPedido()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). A Facade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orquestra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fluxo. 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561795" y="4399178"/>
            <a:ext cx="4000500" cy="609905"/>
          </a:xfrm>
          <a:prstGeom prst="roundRect">
            <a:avLst>
              <a:gd name="adj" fmla="val 74962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705356" y="4522622"/>
            <a:ext cx="362102" cy="362102"/>
          </a:xfrm>
          <a:prstGeom prst="roundRect">
            <a:avLst>
              <a:gd name="adj" fmla="val 186071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1828800" y="4627778"/>
            <a:ext cx="114300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162556" y="4539082"/>
            <a:ext cx="21899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Checklist rápido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2162556" y="4724705"/>
            <a:ext cx="2505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 ficou grande demais, divida por contexto.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331513" y="4531766"/>
            <a:ext cx="1095451" cy="342900"/>
          </a:xfrm>
          <a:prstGeom prst="roundRect">
            <a:avLst>
              <a:gd name="adj" fmla="val 177778"/>
            </a:avLst>
          </a:prstGeom>
          <a:solidFill>
            <a:srgbClr val="FFF7ED"/>
          </a:solidFill>
          <a:ln w="12700">
            <a:solidFill>
              <a:srgbClr val="C2410C">
                <a:alpha val="2500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436669" y="4617720"/>
            <a:ext cx="105430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2D1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Evitar God Object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5772607" y="1252728"/>
            <a:ext cx="2866644" cy="3847795"/>
          </a:xfrm>
          <a:prstGeom prst="roundRect">
            <a:avLst>
              <a:gd name="adj" fmla="val 4239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781751" y="1261872"/>
            <a:ext cx="2848356" cy="552298"/>
          </a:xfrm>
          <a:prstGeom prst="roundRect">
            <a:avLst>
              <a:gd name="adj" fmla="val 114181"/>
            </a:avLst>
          </a:prstGeom>
          <a:solidFill>
            <a:srgbClr val="ECFDF5"/>
          </a:solidFill>
          <a:ln/>
        </p:spPr>
      </p:sp>
      <p:sp>
        <p:nvSpPr>
          <p:cNvPr id="33" name="Shape 25"/>
          <p:cNvSpPr/>
          <p:nvPr/>
        </p:nvSpPr>
        <p:spPr>
          <a:xfrm>
            <a:off x="5781751" y="1805026"/>
            <a:ext cx="2848356" cy="9144"/>
          </a:xfrm>
          <a:prstGeom prst="roundRect">
            <a:avLst>
              <a:gd name="adj" fmla="val 6896552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971946" y="1362456"/>
            <a:ext cx="342900" cy="342900"/>
          </a:xfrm>
          <a:prstGeom prst="roundRect">
            <a:avLst>
              <a:gd name="adj" fmla="val 20740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057900" y="1447495"/>
            <a:ext cx="171907" cy="171907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409944" y="1347826"/>
            <a:ext cx="1000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Vantagens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6409944" y="1548079"/>
            <a:ext cx="110002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 ganhos principais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545629" y="1485900"/>
            <a:ext cx="95098" cy="9509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7716622" y="1447495"/>
            <a:ext cx="8622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Melhor UX dev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010351" y="2042770"/>
            <a:ext cx="2391156" cy="828446"/>
          </a:xfrm>
          <a:prstGeom prst="roundRect">
            <a:avLst>
              <a:gd name="adj" fmla="val 4567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6152998" y="2207362"/>
            <a:ext cx="495605" cy="495605"/>
          </a:xfrm>
          <a:prstGeom prst="roundRect">
            <a:avLst>
              <a:gd name="adj" fmla="val 127732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81928" y="2360066"/>
            <a:ext cx="237744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782105" y="2186330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Desacoplamento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6782105" y="2414930"/>
            <a:ext cx="153619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depende da Facade — não dos serviços.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6010351" y="3000146"/>
            <a:ext cx="2391156" cy="828446"/>
          </a:xfrm>
          <a:prstGeom prst="roundRect">
            <a:avLst>
              <a:gd name="adj" fmla="val 4567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6152998" y="3164738"/>
            <a:ext cx="495605" cy="495605"/>
          </a:xfrm>
          <a:prstGeom prst="roundRect">
            <a:avLst>
              <a:gd name="adj" fmla="val 127732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305702" y="3317443"/>
            <a:ext cx="190195" cy="19019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6782105" y="3143707"/>
            <a:ext cx="1570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Manutenibilidade</a:t>
            </a:r>
            <a:endParaRPr lang="en-US" sz="1200" dirty="0"/>
          </a:p>
        </p:txBody>
      </p:sp>
      <p:sp>
        <p:nvSpPr>
          <p:cNvPr id="49" name="Text 38"/>
          <p:cNvSpPr txBox="1"/>
          <p:nvPr/>
        </p:nvSpPr>
        <p:spPr>
          <a:xfrm>
            <a:off x="6782105" y="3372307"/>
            <a:ext cx="153619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Mudou o fluxo? Ajusta em 1 lugar.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6010351" y="3957523"/>
            <a:ext cx="2391156" cy="828446"/>
          </a:xfrm>
          <a:prstGeom prst="roundRect">
            <a:avLst>
              <a:gd name="adj" fmla="val 4567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6152998" y="4122115"/>
            <a:ext cx="495605" cy="495605"/>
          </a:xfrm>
          <a:prstGeom prst="roundRect">
            <a:avLst>
              <a:gd name="adj" fmla="val 127732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305702" y="4273906"/>
            <a:ext cx="190195" cy="190195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6782105" y="4100170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Testabilidade</a:t>
            </a:r>
            <a:endParaRPr lang="en-US" sz="1200" dirty="0"/>
          </a:p>
        </p:txBody>
      </p:sp>
      <p:sp>
        <p:nvSpPr>
          <p:cNvPr id="54" name="Text 42"/>
          <p:cNvSpPr txBox="1"/>
          <p:nvPr/>
        </p:nvSpPr>
        <p:spPr>
          <a:xfrm>
            <a:off x="6782105" y="4328770"/>
            <a:ext cx="153619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Mocka a Facade e testa sem integrações.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8791956" y="1252728"/>
            <a:ext cx="2866644" cy="3847795"/>
          </a:xfrm>
          <a:prstGeom prst="roundRect">
            <a:avLst>
              <a:gd name="adj" fmla="val 4239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56" name="Shape 44"/>
          <p:cNvSpPr/>
          <p:nvPr/>
        </p:nvSpPr>
        <p:spPr>
          <a:xfrm>
            <a:off x="8801100" y="1261872"/>
            <a:ext cx="2848356" cy="552298"/>
          </a:xfrm>
          <a:prstGeom prst="roundRect">
            <a:avLst>
              <a:gd name="adj" fmla="val 114181"/>
            </a:avLst>
          </a:prstGeom>
          <a:solidFill>
            <a:srgbClr val="FFF7ED"/>
          </a:solidFill>
          <a:ln/>
        </p:spPr>
      </p:sp>
      <p:sp>
        <p:nvSpPr>
          <p:cNvPr id="57" name="Shape 45"/>
          <p:cNvSpPr/>
          <p:nvPr/>
        </p:nvSpPr>
        <p:spPr>
          <a:xfrm>
            <a:off x="8801100" y="1805026"/>
            <a:ext cx="2848356" cy="9144"/>
          </a:xfrm>
          <a:prstGeom prst="roundRect">
            <a:avLst>
              <a:gd name="adj" fmla="val 6896552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8" name="Shape 46"/>
          <p:cNvSpPr/>
          <p:nvPr/>
        </p:nvSpPr>
        <p:spPr>
          <a:xfrm>
            <a:off x="8991295" y="1362456"/>
            <a:ext cx="342900" cy="342900"/>
          </a:xfrm>
          <a:prstGeom prst="roundRect">
            <a:avLst>
              <a:gd name="adj" fmla="val 207407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077249" y="1447495"/>
            <a:ext cx="171907" cy="171907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9430207" y="1347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2D1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Desvantagens</a:t>
            </a:r>
            <a:endParaRPr lang="en-US" sz="1000" dirty="0"/>
          </a:p>
        </p:txBody>
      </p:sp>
      <p:sp>
        <p:nvSpPr>
          <p:cNvPr id="61" name="Text 48"/>
          <p:cNvSpPr txBox="1"/>
          <p:nvPr/>
        </p:nvSpPr>
        <p:spPr>
          <a:xfrm>
            <a:off x="9430207" y="1548079"/>
            <a:ext cx="97566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341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riscos comuns</a:t>
            </a:r>
            <a:endParaRPr lang="en-US" sz="900" dirty="0"/>
          </a:p>
        </p:txBody>
      </p:sp>
      <p:sp>
        <p:nvSpPr>
          <p:cNvPr id="62" name="Shape 49"/>
          <p:cNvSpPr/>
          <p:nvPr/>
        </p:nvSpPr>
        <p:spPr>
          <a:xfrm>
            <a:off x="10774375" y="1485900"/>
            <a:ext cx="95098" cy="9509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0"/>
          <p:cNvSpPr txBox="1"/>
          <p:nvPr/>
        </p:nvSpPr>
        <p:spPr>
          <a:xfrm>
            <a:off x="10945368" y="1447495"/>
            <a:ext cx="6126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341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64" name="Shape 51"/>
          <p:cNvSpPr/>
          <p:nvPr/>
        </p:nvSpPr>
        <p:spPr>
          <a:xfrm>
            <a:off x="9029700" y="2042770"/>
            <a:ext cx="2391156" cy="828446"/>
          </a:xfrm>
          <a:prstGeom prst="roundRect">
            <a:avLst>
              <a:gd name="adj" fmla="val 45673"/>
            </a:avLst>
          </a:prstGeom>
          <a:solidFill>
            <a:srgbClr val="FFF7ED"/>
          </a:solidFill>
          <a:ln w="12700">
            <a:solidFill>
              <a:srgbClr val="C2410C">
                <a:alpha val="25000"/>
              </a:srgbClr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9172346" y="2207362"/>
            <a:ext cx="495605" cy="495605"/>
          </a:xfrm>
          <a:prstGeom prst="roundRect">
            <a:avLst>
              <a:gd name="adj" fmla="val 127732"/>
            </a:avLst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325051" y="2360066"/>
            <a:ext cx="190195" cy="190195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9801454" y="2186330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God Object</a:t>
            </a:r>
            <a:endParaRPr lang="en-US" sz="1200" dirty="0"/>
          </a:p>
        </p:txBody>
      </p:sp>
      <p:sp>
        <p:nvSpPr>
          <p:cNvPr id="68" name="Text 54"/>
          <p:cNvSpPr txBox="1"/>
          <p:nvPr/>
        </p:nvSpPr>
        <p:spPr>
          <a:xfrm>
            <a:off x="9801454" y="2414930"/>
            <a:ext cx="153619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2D1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Facade gigante e difícil de evoluir.</a:t>
            </a:r>
            <a:endParaRPr lang="en-US" sz="900" dirty="0"/>
          </a:p>
        </p:txBody>
      </p:sp>
      <p:sp>
        <p:nvSpPr>
          <p:cNvPr id="69" name="Shape 55"/>
          <p:cNvSpPr/>
          <p:nvPr/>
        </p:nvSpPr>
        <p:spPr>
          <a:xfrm>
            <a:off x="9029700" y="3000146"/>
            <a:ext cx="2391156" cy="828446"/>
          </a:xfrm>
          <a:prstGeom prst="roundRect">
            <a:avLst>
              <a:gd name="adj" fmla="val 4567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70" name="Shape 56"/>
          <p:cNvSpPr/>
          <p:nvPr/>
        </p:nvSpPr>
        <p:spPr>
          <a:xfrm>
            <a:off x="9172346" y="3164738"/>
            <a:ext cx="495605" cy="495605"/>
          </a:xfrm>
          <a:prstGeom prst="roundRect">
            <a:avLst>
              <a:gd name="adj" fmla="val 127732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301277" y="3317443"/>
            <a:ext cx="237744" cy="190195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9801454" y="3143707"/>
            <a:ext cx="17574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Complexidade oculta</a:t>
            </a:r>
            <a:endParaRPr lang="en-US" sz="1200" dirty="0"/>
          </a:p>
        </p:txBody>
      </p:sp>
      <p:sp>
        <p:nvSpPr>
          <p:cNvPr id="73" name="Text 58"/>
          <p:cNvSpPr txBox="1"/>
          <p:nvPr/>
        </p:nvSpPr>
        <p:spPr>
          <a:xfrm>
            <a:off x="9801454" y="3372307"/>
            <a:ext cx="153619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Precisa de logs para debugar o fluxo.</a:t>
            </a:r>
            <a:endParaRPr lang="en-US" sz="900" dirty="0"/>
          </a:p>
        </p:txBody>
      </p:sp>
      <p:pic>
        <p:nvPicPr>
          <p:cNvPr id="74" name="Image 13" descr="preencoded.png">    </p:cNvPr>
          <p:cNvPicPr>
            <a:picLocks noChangeAspect="1"/>
          </p:cNvPicPr>
          <p:nvPr/>
        </p:nvPicPr>
        <p:blipFill>
          <a:blip r:embed="rId14"/>
          <a:srcRect l="-2094" r="-2094" t="0" b="0"/>
          <a:stretch/>
        </p:blipFill>
        <p:spPr>
          <a:xfrm>
            <a:off x="9029700" y="3957523"/>
            <a:ext cx="2391156" cy="9144"/>
          </a:xfrm>
          <a:prstGeom prst="rect">
            <a:avLst/>
          </a:prstGeom>
        </p:spPr>
      </p:pic>
      <p:sp>
        <p:nvSpPr>
          <p:cNvPr id="75" name="Shape 59"/>
          <p:cNvSpPr/>
          <p:nvPr/>
        </p:nvSpPr>
        <p:spPr>
          <a:xfrm>
            <a:off x="9029700" y="4100170"/>
            <a:ext cx="2391156" cy="761695"/>
          </a:xfrm>
          <a:prstGeom prst="roundRect">
            <a:avLst>
              <a:gd name="adj" fmla="val 48019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76" name="Shape 60"/>
          <p:cNvSpPr/>
          <p:nvPr/>
        </p:nvSpPr>
        <p:spPr>
          <a:xfrm>
            <a:off x="9153144" y="4224528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7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9249156" y="4319626"/>
            <a:ext cx="133502" cy="133502"/>
          </a:xfrm>
          <a:prstGeom prst="rect">
            <a:avLst/>
          </a:prstGeom>
        </p:spPr>
      </p:pic>
      <p:sp>
        <p:nvSpPr>
          <p:cNvPr id="78" name="Text 61"/>
          <p:cNvSpPr txBox="1"/>
          <p:nvPr/>
        </p:nvSpPr>
        <p:spPr>
          <a:xfrm>
            <a:off x="9572854" y="4224528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Mitigação (resumo)</a:t>
            </a:r>
            <a:endParaRPr lang="en-US" sz="900" dirty="0"/>
          </a:p>
        </p:txBody>
      </p:sp>
      <p:sp>
        <p:nvSpPr>
          <p:cNvPr id="79" name="Text 62"/>
          <p:cNvSpPr txBox="1"/>
          <p:nvPr/>
        </p:nvSpPr>
        <p:spPr>
          <a:xfrm>
            <a:off x="9572854" y="4410151"/>
            <a:ext cx="17931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Fachadas por contexto + contratos + logs estruturados.</a:t>
            </a:r>
            <a:endParaRPr lang="en-US" sz="900" dirty="0"/>
          </a:p>
        </p:txBody>
      </p:sp>
      <p:sp>
        <p:nvSpPr>
          <p:cNvPr id="80" name="Shape 63"/>
          <p:cNvSpPr/>
          <p:nvPr/>
        </p:nvSpPr>
        <p:spPr>
          <a:xfrm>
            <a:off x="5772607" y="5245913"/>
            <a:ext cx="5886907" cy="666598"/>
          </a:xfrm>
          <a:prstGeom prst="roundRect">
            <a:avLst>
              <a:gd name="adj" fmla="val 70547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81" name="Shape 64"/>
          <p:cNvSpPr/>
          <p:nvPr/>
        </p:nvSpPr>
        <p:spPr>
          <a:xfrm>
            <a:off x="5934456" y="5388559"/>
            <a:ext cx="381305" cy="381305"/>
          </a:xfrm>
          <a:prstGeom prst="roundRect">
            <a:avLst>
              <a:gd name="adj" fmla="val 167866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15" descr="preencoded.png">    </p:cNvPr>
          <p:cNvPicPr>
            <a:picLocks noChangeAspect="1"/>
          </p:cNvPicPr>
          <p:nvPr/>
        </p:nvPicPr>
        <p:blipFill>
          <a:blip r:embed="rId16"/>
          <a:srcRect l="-33" r="-33" t="0" b="0"/>
          <a:stretch/>
        </p:blipFill>
        <p:spPr>
          <a:xfrm>
            <a:off x="6038698" y="5502859"/>
            <a:ext cx="171907" cy="152705"/>
          </a:xfrm>
          <a:prstGeom prst="rect">
            <a:avLst/>
          </a:prstGeom>
        </p:spPr>
      </p:pic>
      <p:sp>
        <p:nvSpPr>
          <p:cNvPr id="83" name="Text 65"/>
          <p:cNvSpPr txBox="1"/>
          <p:nvPr/>
        </p:nvSpPr>
        <p:spPr>
          <a:xfrm>
            <a:off x="6429146" y="5405018"/>
            <a:ext cx="33631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projeto</a:t>
            </a:r>
            <a:endParaRPr lang="en-US" sz="1000" dirty="0"/>
          </a:p>
        </p:txBody>
      </p:sp>
      <p:sp>
        <p:nvSpPr>
          <p:cNvPr id="84" name="Text 66"/>
          <p:cNvSpPr txBox="1"/>
          <p:nvPr/>
        </p:nvSpPr>
        <p:spPr>
          <a:xfrm>
            <a:off x="6429146" y="5605272"/>
            <a:ext cx="384962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</a:t>
            </a:r>
            <a:pPr algn="l" indent="0" marL="0">
              <a:buNone/>
            </a:pPr>
            <a:r>
              <a:rPr lang="en-US" sz="9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VendaFacade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centraliza o fluxo e reduz chamadas diretas na UI. </a:t>
            </a:r>
            <a:endParaRPr lang="en-US" sz="900" dirty="0"/>
          </a:p>
        </p:txBody>
      </p:sp>
      <p:sp>
        <p:nvSpPr>
          <p:cNvPr id="85" name="Shape 67"/>
          <p:cNvSpPr/>
          <p:nvPr/>
        </p:nvSpPr>
        <p:spPr>
          <a:xfrm>
            <a:off x="9693554" y="5407762"/>
            <a:ext cx="914400" cy="342900"/>
          </a:xfrm>
          <a:prstGeom prst="roundRect">
            <a:avLst>
              <a:gd name="adj" fmla="val 266667"/>
            </a:avLst>
          </a:prstGeom>
          <a:solidFill>
            <a:srgbClr val="F0FDF4"/>
          </a:solidFill>
          <a:ln w="12700">
            <a:solidFill>
              <a:srgbClr val="047857">
                <a:alpha val="25000"/>
              </a:srgbClr>
            </a:solidFill>
            <a:prstDash val="solid"/>
          </a:ln>
        </p:spPr>
      </p:sp>
      <p:pic>
        <p:nvPicPr>
          <p:cNvPr id="86" name="Image 16" descr="preencoded.png">    </p:cNvPr>
          <p:cNvPicPr>
            <a:picLocks noChangeAspect="1"/>
          </p:cNvPicPr>
          <p:nvPr/>
        </p:nvPicPr>
        <p:blipFill>
          <a:blip r:embed="rId17"/>
          <a:srcRect l="-2571" r="-2571" t="0" b="0"/>
          <a:stretch/>
        </p:blipFill>
        <p:spPr>
          <a:xfrm>
            <a:off x="9797796" y="5522062"/>
            <a:ext cx="105156" cy="114300"/>
          </a:xfrm>
          <a:prstGeom prst="rect">
            <a:avLst/>
          </a:prstGeom>
        </p:spPr>
      </p:pic>
      <p:sp>
        <p:nvSpPr>
          <p:cNvPr id="87" name="Text 68"/>
          <p:cNvSpPr txBox="1"/>
          <p:nvPr/>
        </p:nvSpPr>
        <p:spPr>
          <a:xfrm>
            <a:off x="9978847" y="5407762"/>
            <a:ext cx="5815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 simples</a:t>
            </a:r>
            <a:endParaRPr lang="en-US" sz="900" dirty="0"/>
          </a:p>
        </p:txBody>
      </p:sp>
      <p:sp>
        <p:nvSpPr>
          <p:cNvPr id="88" name="Shape 69"/>
          <p:cNvSpPr/>
          <p:nvPr/>
        </p:nvSpPr>
        <p:spPr>
          <a:xfrm>
            <a:off x="10682021" y="5407762"/>
            <a:ext cx="819302" cy="342900"/>
          </a:xfrm>
          <a:prstGeom prst="roundRect">
            <a:avLst>
              <a:gd name="adj" fmla="val 266667"/>
            </a:avLst>
          </a:prstGeom>
          <a:solidFill>
            <a:srgbClr val="EEF2FF"/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pic>
        <p:nvPicPr>
          <p:cNvPr id="8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10786262" y="5522062"/>
            <a:ext cx="114300" cy="114300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10977372" y="5407762"/>
            <a:ext cx="476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Testável</a:t>
            </a:r>
            <a:endParaRPr lang="en-US" sz="900" dirty="0"/>
          </a:p>
        </p:txBody>
      </p:sp>
      <p:sp>
        <p:nvSpPr>
          <p:cNvPr id="91" name="Shape 71"/>
          <p:cNvSpPr/>
          <p:nvPr/>
        </p:nvSpPr>
        <p:spPr>
          <a:xfrm>
            <a:off x="1028700" y="6369710"/>
            <a:ext cx="11162995" cy="49560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Text 72"/>
          <p:cNvSpPr txBox="1"/>
          <p:nvPr/>
        </p:nvSpPr>
        <p:spPr>
          <a:xfrm>
            <a:off x="1561795" y="6521501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93" name="Text 73"/>
          <p:cNvSpPr txBox="1"/>
          <p:nvPr/>
        </p:nvSpPr>
        <p:spPr>
          <a:xfrm>
            <a:off x="9862718" y="6521501"/>
            <a:ext cx="21424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7 • Vantagens e Desvantagens</a:t>
            </a:r>
            <a:endParaRPr lang="en-US" sz="900" dirty="0"/>
          </a:p>
        </p:txBody>
      </p:sp>
      <p:sp>
        <p:nvSpPr>
          <p:cNvPr id="94" name="Shape 74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75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76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0507" y="395021"/>
            <a:ext cx="228600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914400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226771"/>
            <a:ext cx="40690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483718"/>
            <a:ext cx="40690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Onde esse padrão aparece na prática (mercado e plataformas)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211105" y="245974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349179" y="360274"/>
            <a:ext cx="142646" cy="19019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724998" y="245974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10825582" y="360274"/>
            <a:ext cx="219456" cy="190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39805" y="245974"/>
            <a:ext cx="418795" cy="418795"/>
          </a:xfrm>
          <a:prstGeom prst="roundRect">
            <a:avLst>
              <a:gd name="adj" fmla="val 11909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377879" y="360274"/>
            <a:ext cx="142646" cy="19019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1344168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1301191"/>
            <a:ext cx="986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Casos reais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1615745"/>
            <a:ext cx="41577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Exemplos no </a:t>
            </a:r>
            <a:pPr algn="l" indent="0" marL="0">
              <a:buNone/>
            </a:pPr>
            <a:r>
              <a:rPr lang="en-US" sz="33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Mercado</a:t>
            </a:r>
            <a:endParaRPr lang="en-US" sz="3300" dirty="0"/>
          </a:p>
        </p:txBody>
      </p:sp>
      <p:sp>
        <p:nvSpPr>
          <p:cNvPr id="18" name="Shape 12"/>
          <p:cNvSpPr/>
          <p:nvPr/>
        </p:nvSpPr>
        <p:spPr>
          <a:xfrm>
            <a:off x="1561795" y="2672791"/>
            <a:ext cx="4000500" cy="828446"/>
          </a:xfrm>
          <a:prstGeom prst="roundRect">
            <a:avLst>
              <a:gd name="adj" fmla="val 40598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705356" y="2815438"/>
            <a:ext cx="381305" cy="381305"/>
          </a:xfrm>
          <a:prstGeom prst="roundRect">
            <a:avLst>
              <a:gd name="adj" fmla="val 167866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809598" y="2920594"/>
            <a:ext cx="171907" cy="17190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2200046" y="2815438"/>
            <a:ext cx="3333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Como reconhecer um Facade?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2200046" y="3015691"/>
            <a:ext cx="32964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ponto de acesso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 métodos simples que orquestram tudo por trás. 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1561795" y="3645713"/>
            <a:ext cx="4000500" cy="590702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705356" y="3769157"/>
            <a:ext cx="342900" cy="342900"/>
          </a:xfrm>
          <a:prstGeom prst="roundRect">
            <a:avLst>
              <a:gd name="adj" fmla="val 207407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800454" y="3864254"/>
            <a:ext cx="152705" cy="15270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143354" y="3776472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Resultado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2143354" y="3962095"/>
            <a:ext cx="217627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Cliente simples, integração escondida.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4475988" y="3769157"/>
            <a:ext cx="952805" cy="342900"/>
          </a:xfrm>
          <a:prstGeom prst="roundRect">
            <a:avLst>
              <a:gd name="adj" fmla="val 266667"/>
            </a:avLst>
          </a:prstGeom>
          <a:solidFill>
            <a:srgbClr val="EEF2FF"/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4581144" y="3883457"/>
            <a:ext cx="142646" cy="1143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99686" y="3769157"/>
            <a:ext cx="5815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Desacopla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1561795" y="4331513"/>
            <a:ext cx="4000500" cy="590702"/>
          </a:xfrm>
          <a:prstGeom prst="roundRect">
            <a:avLst>
              <a:gd name="adj" fmla="val 79896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1705356" y="4454957"/>
            <a:ext cx="342900" cy="342900"/>
          </a:xfrm>
          <a:prstGeom prst="roundRect">
            <a:avLst>
              <a:gd name="adj" fmla="val 207407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800454" y="4550054"/>
            <a:ext cx="152705" cy="1527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2143354" y="4462272"/>
            <a:ext cx="1400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Cuidado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2143354" y="4647895"/>
            <a:ext cx="157642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Não virar “fachada gigante”.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4187952" y="4454957"/>
            <a:ext cx="1238098" cy="342900"/>
          </a:xfrm>
          <a:prstGeom prst="roundRect">
            <a:avLst>
              <a:gd name="adj" fmla="val 266667"/>
            </a:avLst>
          </a:prstGeom>
          <a:solidFill>
            <a:srgbClr val="FFF7ED"/>
          </a:solidFill>
          <a:ln w="12700">
            <a:solidFill>
              <a:srgbClr val="C2410C">
                <a:alpha val="20000"/>
              </a:srgbClr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4292194" y="4540910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2D1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Coesão por contexto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1561795" y="5074006"/>
            <a:ext cx="4000500" cy="647395"/>
          </a:xfrm>
          <a:prstGeom prst="roundRect">
            <a:avLst>
              <a:gd name="adj" fmla="val 66467"/>
            </a:avLst>
          </a:prstGeom>
          <a:solidFill>
            <a:srgbClr val="0B3A6A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1705356" y="5216652"/>
            <a:ext cx="362102" cy="362102"/>
          </a:xfrm>
          <a:prstGeom prst="roundRect">
            <a:avLst>
              <a:gd name="adj" fmla="val 1860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1828800" y="5321808"/>
            <a:ext cx="114300" cy="15270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2162556" y="5234026"/>
            <a:ext cx="20711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Ponto em comum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2162556" y="5419649"/>
            <a:ext cx="2369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 de alto nível para complexidade.</a:t>
            </a:r>
            <a:endParaRPr lang="en-US" sz="900" dirty="0"/>
          </a:p>
        </p:txBody>
      </p:sp>
      <p:sp>
        <p:nvSpPr>
          <p:cNvPr id="43" name="Shape 32"/>
          <p:cNvSpPr/>
          <p:nvPr/>
        </p:nvSpPr>
        <p:spPr>
          <a:xfrm>
            <a:off x="4867351" y="5226710"/>
            <a:ext cx="562356" cy="342900"/>
          </a:xfrm>
          <a:prstGeom prst="roundRect">
            <a:avLst>
              <a:gd name="adj" fmla="val 266667"/>
            </a:avLst>
          </a:prstGeom>
          <a:solidFill>
            <a:srgbClr val="0B3A6A"/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4971593" y="5312664"/>
            <a:ext cx="4288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 → N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5772607" y="1301191"/>
            <a:ext cx="2866644" cy="2229307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5781751" y="1310335"/>
            <a:ext cx="2848356" cy="590702"/>
          </a:xfrm>
          <a:prstGeom prst="roundRect">
            <a:avLst>
              <a:gd name="adj" fmla="val 109857"/>
            </a:avLst>
          </a:prstGeom>
          <a:solidFill>
            <a:srgbClr val="EEF2FF"/>
          </a:solidFill>
          <a:ln/>
        </p:spPr>
      </p:sp>
      <p:sp>
        <p:nvSpPr>
          <p:cNvPr id="47" name="Shape 36"/>
          <p:cNvSpPr/>
          <p:nvPr/>
        </p:nvSpPr>
        <p:spPr>
          <a:xfrm>
            <a:off x="5781751" y="1891894"/>
            <a:ext cx="2848356" cy="9144"/>
          </a:xfrm>
          <a:prstGeom prst="roundRect">
            <a:avLst>
              <a:gd name="adj" fmla="val 7096774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010351" y="1410919"/>
            <a:ext cx="381305" cy="381305"/>
          </a:xfrm>
          <a:prstGeom prst="roundRect">
            <a:avLst>
              <a:gd name="adj" fmla="val 167866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842" b="-842"/>
          <a:stretch/>
        </p:blipFill>
        <p:spPr>
          <a:xfrm>
            <a:off x="6105449" y="1515161"/>
            <a:ext cx="190195" cy="171907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505956" y="1415491"/>
            <a:ext cx="7717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Gateways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6505956" y="1615745"/>
            <a:ext cx="8275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Stripe / PayPal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7231075" y="1429207"/>
            <a:ext cx="1171346" cy="342900"/>
          </a:xfrm>
          <a:prstGeom prst="roundRect">
            <a:avLst>
              <a:gd name="adj" fmla="val 266667"/>
            </a:avLst>
          </a:prstGeom>
          <a:solidFill>
            <a:srgbClr val="E0E7FF"/>
          </a:solidFill>
          <a:ln w="12700">
            <a:solidFill>
              <a:srgbClr val="1D4ED8">
                <a:alpha val="18000"/>
              </a:srgbClr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7336231" y="1515161"/>
            <a:ext cx="1038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CreateCharge()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6010351" y="2349094"/>
            <a:ext cx="428854" cy="724205"/>
          </a:xfrm>
          <a:prstGeom prst="roundRect">
            <a:avLst>
              <a:gd name="adj" fmla="val 170576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rcRect l="20947" r="20947" t="0" b="0"/>
          <a:stretch/>
        </p:blipFill>
        <p:spPr>
          <a:xfrm>
            <a:off x="6019495" y="2358238"/>
            <a:ext cx="409651" cy="705002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6569964" y="2378354"/>
            <a:ext cx="10863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 simples</a:t>
            </a:r>
            <a:endParaRPr lang="en-US" sz="1000" dirty="0"/>
          </a:p>
        </p:txBody>
      </p:sp>
      <p:sp>
        <p:nvSpPr>
          <p:cNvPr id="57" name="Text 44"/>
          <p:cNvSpPr txBox="1"/>
          <p:nvPr/>
        </p:nvSpPr>
        <p:spPr>
          <a:xfrm>
            <a:off x="6569964" y="2578608"/>
            <a:ext cx="10671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Oculta autenticação, rede e erros.</a:t>
            </a:r>
            <a:endParaRPr lang="en-US" sz="900" dirty="0"/>
          </a:p>
        </p:txBody>
      </p:sp>
      <p:sp>
        <p:nvSpPr>
          <p:cNvPr id="58" name="Shape 45"/>
          <p:cNvSpPr/>
          <p:nvPr/>
        </p:nvSpPr>
        <p:spPr>
          <a:xfrm>
            <a:off x="7703820" y="2129638"/>
            <a:ext cx="1257300" cy="533095"/>
          </a:xfrm>
          <a:prstGeom prst="roundRect">
            <a:avLst>
              <a:gd name="adj" fmla="val 9801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59" name="Shape 46"/>
          <p:cNvSpPr/>
          <p:nvPr/>
        </p:nvSpPr>
        <p:spPr>
          <a:xfrm>
            <a:off x="7828178" y="2234794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7923276" y="2319833"/>
            <a:ext cx="133502" cy="152705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8246974" y="2303374"/>
            <a:ext cx="69220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Segurança</a:t>
            </a:r>
            <a:endParaRPr lang="en-US" sz="900" dirty="0"/>
          </a:p>
        </p:txBody>
      </p:sp>
      <p:sp>
        <p:nvSpPr>
          <p:cNvPr id="62" name="Shape 48"/>
          <p:cNvSpPr/>
          <p:nvPr/>
        </p:nvSpPr>
        <p:spPr>
          <a:xfrm>
            <a:off x="7703820" y="2758745"/>
            <a:ext cx="1257300" cy="533095"/>
          </a:xfrm>
          <a:prstGeom prst="roundRect">
            <a:avLst>
              <a:gd name="adj" fmla="val 9801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63" name="Shape 49"/>
          <p:cNvSpPr/>
          <p:nvPr/>
        </p:nvSpPr>
        <p:spPr>
          <a:xfrm>
            <a:off x="7828178" y="2862986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80" b="-180"/>
          <a:stretch/>
        </p:blipFill>
        <p:spPr>
          <a:xfrm>
            <a:off x="7894930" y="2948940"/>
            <a:ext cx="190195" cy="15270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8246974" y="2932481"/>
            <a:ext cx="7031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Protocolos</a:t>
            </a:r>
            <a:endParaRPr lang="en-US" sz="900" dirty="0"/>
          </a:p>
        </p:txBody>
      </p:sp>
      <p:sp>
        <p:nvSpPr>
          <p:cNvPr id="66" name="Shape 51"/>
          <p:cNvSpPr/>
          <p:nvPr/>
        </p:nvSpPr>
        <p:spPr>
          <a:xfrm>
            <a:off x="8791956" y="1301191"/>
            <a:ext cx="2866644" cy="2229307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67" name="Shape 52"/>
          <p:cNvSpPr/>
          <p:nvPr/>
        </p:nvSpPr>
        <p:spPr>
          <a:xfrm>
            <a:off x="8801100" y="1310335"/>
            <a:ext cx="2848356" cy="590702"/>
          </a:xfrm>
          <a:prstGeom prst="roundRect">
            <a:avLst>
              <a:gd name="adj" fmla="val 109857"/>
            </a:avLst>
          </a:prstGeom>
          <a:solidFill>
            <a:srgbClr val="ECFDF5"/>
          </a:solidFill>
          <a:ln/>
        </p:spPr>
      </p:sp>
      <p:sp>
        <p:nvSpPr>
          <p:cNvPr id="68" name="Shape 53"/>
          <p:cNvSpPr/>
          <p:nvPr/>
        </p:nvSpPr>
        <p:spPr>
          <a:xfrm>
            <a:off x="8801100" y="1891894"/>
            <a:ext cx="2848356" cy="9144"/>
          </a:xfrm>
          <a:prstGeom prst="roundRect">
            <a:avLst>
              <a:gd name="adj" fmla="val 7096774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9" name="Shape 54"/>
          <p:cNvSpPr/>
          <p:nvPr/>
        </p:nvSpPr>
        <p:spPr>
          <a:xfrm>
            <a:off x="9029700" y="1410919"/>
            <a:ext cx="304495" cy="381305"/>
          </a:xfrm>
          <a:prstGeom prst="roundRect">
            <a:avLst>
              <a:gd name="adj" fmla="val 26276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0" name="Image 13" descr="preencoded.png">    </p:cNvPr>
          <p:cNvPicPr>
            <a:picLocks noChangeAspect="1"/>
          </p:cNvPicPr>
          <p:nvPr/>
        </p:nvPicPr>
        <p:blipFill>
          <a:blip r:embed="rId14"/>
          <a:srcRect l="-760" r="-760" t="0" b="0"/>
          <a:stretch/>
        </p:blipFill>
        <p:spPr>
          <a:xfrm>
            <a:off x="9105595" y="1515161"/>
            <a:ext cx="152705" cy="171907"/>
          </a:xfrm>
          <a:prstGeom prst="rect">
            <a:avLst/>
          </a:prstGeom>
        </p:spPr>
      </p:pic>
      <p:sp>
        <p:nvSpPr>
          <p:cNvPr id="71" name="Text 55"/>
          <p:cNvSpPr txBox="1"/>
          <p:nvPr/>
        </p:nvSpPr>
        <p:spPr>
          <a:xfrm>
            <a:off x="9448495" y="1329538"/>
            <a:ext cx="10277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Persistência</a:t>
            </a:r>
            <a:endParaRPr lang="en-US" sz="1000" dirty="0"/>
          </a:p>
        </p:txBody>
      </p:sp>
      <p:sp>
        <p:nvSpPr>
          <p:cNvPr id="72" name="Text 56"/>
          <p:cNvSpPr txBox="1"/>
          <p:nvPr/>
        </p:nvSpPr>
        <p:spPr>
          <a:xfrm>
            <a:off x="9448495" y="1529791"/>
            <a:ext cx="9336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4785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Entity Framework Core</a:t>
            </a:r>
            <a:endParaRPr lang="en-US" sz="900" dirty="0"/>
          </a:p>
        </p:txBody>
      </p:sp>
      <p:sp>
        <p:nvSpPr>
          <p:cNvPr id="73" name="Shape 57"/>
          <p:cNvSpPr/>
          <p:nvPr/>
        </p:nvSpPr>
        <p:spPr>
          <a:xfrm>
            <a:off x="10319004" y="1429207"/>
            <a:ext cx="1104595" cy="342900"/>
          </a:xfrm>
          <a:prstGeom prst="roundRect">
            <a:avLst>
              <a:gd name="adj" fmla="val 266667"/>
            </a:avLst>
          </a:prstGeom>
          <a:solidFill>
            <a:srgbClr val="D1FAE5"/>
          </a:solidFill>
          <a:ln w="12700">
            <a:solidFill>
              <a:srgbClr val="047857">
                <a:alpha val="18000"/>
              </a:srgbClr>
            </a:solidFill>
            <a:prstDash val="solid"/>
          </a:ln>
        </p:spPr>
      </p:sp>
      <p:sp>
        <p:nvSpPr>
          <p:cNvPr id="74" name="Text 58"/>
          <p:cNvSpPr txBox="1"/>
          <p:nvPr/>
        </p:nvSpPr>
        <p:spPr>
          <a:xfrm>
            <a:off x="10424160" y="1515161"/>
            <a:ext cx="9720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SaveChanges()</a:t>
            </a:r>
            <a:endParaRPr lang="en-US" sz="900" dirty="0"/>
          </a:p>
        </p:txBody>
      </p:sp>
      <p:sp>
        <p:nvSpPr>
          <p:cNvPr id="75" name="Shape 59"/>
          <p:cNvSpPr/>
          <p:nvPr/>
        </p:nvSpPr>
        <p:spPr>
          <a:xfrm>
            <a:off x="9029700" y="2349094"/>
            <a:ext cx="400507" cy="724205"/>
          </a:xfrm>
          <a:prstGeom prst="roundRect">
            <a:avLst>
              <a:gd name="adj" fmla="val 19569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76" name="Image 14" descr="preencoded.png">    </p:cNvPr>
          <p:cNvPicPr>
            <a:picLocks noChangeAspect="1"/>
          </p:cNvPicPr>
          <p:nvPr/>
        </p:nvPicPr>
        <p:blipFill>
          <a:blip r:embed="rId15"/>
          <a:srcRect l="28516" r="28516" t="0" b="0"/>
          <a:stretch/>
        </p:blipFill>
        <p:spPr>
          <a:xfrm>
            <a:off x="9038844" y="2358238"/>
            <a:ext cx="381305" cy="705002"/>
          </a:xfrm>
          <a:prstGeom prst="rect">
            <a:avLst/>
          </a:prstGeom>
        </p:spPr>
      </p:pic>
      <p:sp>
        <p:nvSpPr>
          <p:cNvPr id="77" name="Text 60"/>
          <p:cNvSpPr txBox="1"/>
          <p:nvPr/>
        </p:nvSpPr>
        <p:spPr>
          <a:xfrm>
            <a:off x="9555480" y="2355494"/>
            <a:ext cx="10104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DbContext = Facade</a:t>
            </a:r>
            <a:endParaRPr lang="en-US" sz="1000" dirty="0"/>
          </a:p>
        </p:txBody>
      </p:sp>
      <p:sp>
        <p:nvSpPr>
          <p:cNvPr id="78" name="Text 61"/>
          <p:cNvSpPr txBox="1"/>
          <p:nvPr/>
        </p:nvSpPr>
        <p:spPr>
          <a:xfrm>
            <a:off x="9555480" y="2756002"/>
            <a:ext cx="10104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Oculta ADO.NET e simplifica CRUD.</a:t>
            </a:r>
            <a:endParaRPr lang="en-US" sz="900" dirty="0"/>
          </a:p>
        </p:txBody>
      </p:sp>
      <p:sp>
        <p:nvSpPr>
          <p:cNvPr id="79" name="Shape 62"/>
          <p:cNvSpPr/>
          <p:nvPr/>
        </p:nvSpPr>
        <p:spPr>
          <a:xfrm>
            <a:off x="10640873" y="2129638"/>
            <a:ext cx="1266444" cy="533095"/>
          </a:xfrm>
          <a:prstGeom prst="roundRect">
            <a:avLst>
              <a:gd name="adj" fmla="val 9801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80" name="Shape 63"/>
          <p:cNvSpPr/>
          <p:nvPr/>
        </p:nvSpPr>
        <p:spPr>
          <a:xfrm>
            <a:off x="10764317" y="2234794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1" name="Image 15" descr="preencoded.png">    </p:cNvPr>
          <p:cNvPicPr>
            <a:picLocks noChangeAspect="1"/>
          </p:cNvPicPr>
          <p:nvPr/>
        </p:nvPicPr>
        <p:blipFill>
          <a:blip r:embed="rId16"/>
          <a:srcRect l="-33" r="-33" t="0" b="0"/>
          <a:stretch/>
        </p:blipFill>
        <p:spPr>
          <a:xfrm>
            <a:off x="10841126" y="2319833"/>
            <a:ext cx="171907" cy="152705"/>
          </a:xfrm>
          <a:prstGeom prst="rect">
            <a:avLst/>
          </a:prstGeom>
        </p:spPr>
      </p:pic>
      <p:sp>
        <p:nvSpPr>
          <p:cNvPr id="82" name="Text 64"/>
          <p:cNvSpPr txBox="1"/>
          <p:nvPr/>
        </p:nvSpPr>
        <p:spPr>
          <a:xfrm>
            <a:off x="11184026" y="2303374"/>
            <a:ext cx="5815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Camadas</a:t>
            </a:r>
            <a:endParaRPr lang="en-US" sz="900" dirty="0"/>
          </a:p>
        </p:txBody>
      </p:sp>
      <p:sp>
        <p:nvSpPr>
          <p:cNvPr id="83" name="Shape 65"/>
          <p:cNvSpPr/>
          <p:nvPr/>
        </p:nvSpPr>
        <p:spPr>
          <a:xfrm>
            <a:off x="10640873" y="2758745"/>
            <a:ext cx="1266444" cy="533095"/>
          </a:xfrm>
          <a:prstGeom prst="roundRect">
            <a:avLst>
              <a:gd name="adj" fmla="val 9801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84" name="Shape 66"/>
          <p:cNvSpPr/>
          <p:nvPr/>
        </p:nvSpPr>
        <p:spPr>
          <a:xfrm>
            <a:off x="10764317" y="2862986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-180" b="-180"/>
          <a:stretch/>
        </p:blipFill>
        <p:spPr>
          <a:xfrm>
            <a:off x="10831068" y="2948940"/>
            <a:ext cx="190195" cy="152705"/>
          </a:xfrm>
          <a:prstGeom prst="rect">
            <a:avLst/>
          </a:prstGeom>
        </p:spPr>
      </p:pic>
      <p:sp>
        <p:nvSpPr>
          <p:cNvPr id="86" name="Text 67"/>
          <p:cNvSpPr txBox="1"/>
          <p:nvPr/>
        </p:nvSpPr>
        <p:spPr>
          <a:xfrm>
            <a:off x="11184026" y="2932481"/>
            <a:ext cx="7141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Ergonomia</a:t>
            </a:r>
            <a:endParaRPr lang="en-US" sz="900" dirty="0"/>
          </a:p>
        </p:txBody>
      </p:sp>
      <p:sp>
        <p:nvSpPr>
          <p:cNvPr id="87" name="Shape 68"/>
          <p:cNvSpPr/>
          <p:nvPr/>
        </p:nvSpPr>
        <p:spPr>
          <a:xfrm>
            <a:off x="5772607" y="3682289"/>
            <a:ext cx="2866644" cy="2229307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88" name="Shape 69"/>
          <p:cNvSpPr/>
          <p:nvPr/>
        </p:nvSpPr>
        <p:spPr>
          <a:xfrm>
            <a:off x="5781751" y="3691433"/>
            <a:ext cx="2848356" cy="590702"/>
          </a:xfrm>
          <a:prstGeom prst="roundRect">
            <a:avLst>
              <a:gd name="adj" fmla="val 109857"/>
            </a:avLst>
          </a:prstGeom>
          <a:solidFill>
            <a:srgbClr val="F1F5F9"/>
          </a:solidFill>
          <a:ln/>
        </p:spPr>
      </p:sp>
      <p:sp>
        <p:nvSpPr>
          <p:cNvPr id="89" name="Shape 70"/>
          <p:cNvSpPr/>
          <p:nvPr/>
        </p:nvSpPr>
        <p:spPr>
          <a:xfrm>
            <a:off x="5781751" y="4272991"/>
            <a:ext cx="2848356" cy="9144"/>
          </a:xfrm>
          <a:prstGeom prst="roundRect">
            <a:avLst>
              <a:gd name="adj" fmla="val 7096774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90" name="Shape 71"/>
          <p:cNvSpPr/>
          <p:nvPr/>
        </p:nvSpPr>
        <p:spPr>
          <a:xfrm>
            <a:off x="6010351" y="3792017"/>
            <a:ext cx="371246" cy="381305"/>
          </a:xfrm>
          <a:prstGeom prst="roundRect">
            <a:avLst>
              <a:gd name="adj" fmla="val 17683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91" name="Image 17" descr="preencoded.png">    </p:cNvPr>
          <p:cNvPicPr>
            <a:picLocks noChangeAspect="1"/>
          </p:cNvPicPr>
          <p:nvPr/>
        </p:nvPicPr>
        <p:blipFill>
          <a:blip r:embed="rId18"/>
          <a:srcRect l="-760" r="-760" t="0" b="0"/>
          <a:stretch/>
        </p:blipFill>
        <p:spPr>
          <a:xfrm>
            <a:off x="6119165" y="3896258"/>
            <a:ext cx="152705" cy="171907"/>
          </a:xfrm>
          <a:prstGeom prst="rect">
            <a:avLst/>
          </a:prstGeom>
        </p:spPr>
      </p:pic>
      <p:sp>
        <p:nvSpPr>
          <p:cNvPr id="92" name="Text 72"/>
          <p:cNvSpPr txBox="1"/>
          <p:nvPr/>
        </p:nvSpPr>
        <p:spPr>
          <a:xfrm>
            <a:off x="6494983" y="3610966"/>
            <a:ext cx="1000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SDKs / Wrappers</a:t>
            </a:r>
            <a:endParaRPr lang="en-US" sz="1000" dirty="0"/>
          </a:p>
        </p:txBody>
      </p:sp>
      <p:sp>
        <p:nvSpPr>
          <p:cNvPr id="93" name="Text 73"/>
          <p:cNvSpPr txBox="1"/>
          <p:nvPr/>
        </p:nvSpPr>
        <p:spPr>
          <a:xfrm>
            <a:off x="6494983" y="4010558"/>
            <a:ext cx="10003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Cliente oficial de API</a:t>
            </a:r>
            <a:endParaRPr lang="en-US" sz="900" dirty="0"/>
          </a:p>
        </p:txBody>
      </p:sp>
      <p:sp>
        <p:nvSpPr>
          <p:cNvPr id="94" name="Shape 74"/>
          <p:cNvSpPr/>
          <p:nvPr/>
        </p:nvSpPr>
        <p:spPr>
          <a:xfrm>
            <a:off x="7436815" y="3811219"/>
            <a:ext cx="972007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95" name="Text 75"/>
          <p:cNvSpPr txBox="1"/>
          <p:nvPr/>
        </p:nvSpPr>
        <p:spPr>
          <a:xfrm>
            <a:off x="7541971" y="3896258"/>
            <a:ext cx="838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3A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SendEmail()</a:t>
            </a:r>
            <a:endParaRPr lang="en-US" sz="900" dirty="0"/>
          </a:p>
        </p:txBody>
      </p:sp>
      <p:sp>
        <p:nvSpPr>
          <p:cNvPr id="96" name="Shape 76"/>
          <p:cNvSpPr/>
          <p:nvPr/>
        </p:nvSpPr>
        <p:spPr>
          <a:xfrm>
            <a:off x="6010351" y="4659782"/>
            <a:ext cx="362102" cy="724205"/>
          </a:xfrm>
          <a:prstGeom prst="roundRect">
            <a:avLst>
              <a:gd name="adj" fmla="val 239235"/>
            </a:avLst>
          </a:prstGeom>
          <a:solidFill>
            <a:srgbClr val="EEF2FF"/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pic>
        <p:nvPicPr>
          <p:cNvPr id="97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-476" b="-476"/>
          <a:stretch/>
        </p:blipFill>
        <p:spPr>
          <a:xfrm>
            <a:off x="6051499" y="4897526"/>
            <a:ext cx="276149" cy="247802"/>
          </a:xfrm>
          <a:prstGeom prst="rect">
            <a:avLst/>
          </a:prstGeom>
        </p:spPr>
      </p:pic>
      <p:sp>
        <p:nvSpPr>
          <p:cNvPr id="98" name="Text 77"/>
          <p:cNvSpPr txBox="1"/>
          <p:nvPr/>
        </p:nvSpPr>
        <p:spPr>
          <a:xfrm>
            <a:off x="6501384" y="4659782"/>
            <a:ext cx="1047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Operações de alto nível</a:t>
            </a:r>
            <a:endParaRPr lang="en-US" sz="1000" dirty="0"/>
          </a:p>
        </p:txBody>
      </p:sp>
      <p:sp>
        <p:nvSpPr>
          <p:cNvPr id="99" name="Text 78"/>
          <p:cNvSpPr txBox="1"/>
          <p:nvPr/>
        </p:nvSpPr>
        <p:spPr>
          <a:xfrm>
            <a:off x="6501384" y="5060290"/>
            <a:ext cx="1047902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Endpoints e serialização ficam internos.</a:t>
            </a:r>
            <a:endParaRPr lang="en-US" sz="900" dirty="0"/>
          </a:p>
        </p:txBody>
      </p:sp>
      <p:sp>
        <p:nvSpPr>
          <p:cNvPr id="100" name="Shape 79"/>
          <p:cNvSpPr/>
          <p:nvPr/>
        </p:nvSpPr>
        <p:spPr>
          <a:xfrm>
            <a:off x="7617866" y="4510735"/>
            <a:ext cx="1057046" cy="533095"/>
          </a:xfrm>
          <a:prstGeom prst="roundRect">
            <a:avLst>
              <a:gd name="adj" fmla="val 9801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101" name="Shape 80"/>
          <p:cNvSpPr/>
          <p:nvPr/>
        </p:nvSpPr>
        <p:spPr>
          <a:xfrm>
            <a:off x="7741310" y="4615891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2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827264" y="4701845"/>
            <a:ext cx="152705" cy="152705"/>
          </a:xfrm>
          <a:prstGeom prst="rect">
            <a:avLst/>
          </a:prstGeom>
        </p:spPr>
      </p:pic>
      <p:sp>
        <p:nvSpPr>
          <p:cNvPr id="103" name="Text 81"/>
          <p:cNvSpPr txBox="1"/>
          <p:nvPr/>
        </p:nvSpPr>
        <p:spPr>
          <a:xfrm>
            <a:off x="8161020" y="4684471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Retries</a:t>
            </a:r>
            <a:endParaRPr lang="en-US" sz="900" dirty="0"/>
          </a:p>
        </p:txBody>
      </p:sp>
      <p:sp>
        <p:nvSpPr>
          <p:cNvPr id="104" name="Shape 82"/>
          <p:cNvSpPr/>
          <p:nvPr/>
        </p:nvSpPr>
        <p:spPr>
          <a:xfrm>
            <a:off x="7617866" y="5139842"/>
            <a:ext cx="1057046" cy="533095"/>
          </a:xfrm>
          <a:prstGeom prst="roundRect">
            <a:avLst>
              <a:gd name="adj" fmla="val 9801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105" name="Shape 83"/>
          <p:cNvSpPr/>
          <p:nvPr/>
        </p:nvSpPr>
        <p:spPr>
          <a:xfrm>
            <a:off x="7741310" y="5244084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6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100" b="-100"/>
          <a:stretch/>
        </p:blipFill>
        <p:spPr>
          <a:xfrm>
            <a:off x="7846466" y="5330038"/>
            <a:ext cx="114300" cy="152705"/>
          </a:xfrm>
          <a:prstGeom prst="rect">
            <a:avLst/>
          </a:prstGeom>
        </p:spPr>
      </p:pic>
      <p:sp>
        <p:nvSpPr>
          <p:cNvPr id="107" name="Text 84"/>
          <p:cNvSpPr txBox="1"/>
          <p:nvPr/>
        </p:nvSpPr>
        <p:spPr>
          <a:xfrm>
            <a:off x="8161020" y="5313578"/>
            <a:ext cx="362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DTOs</a:t>
            </a:r>
            <a:endParaRPr lang="en-US" sz="900" dirty="0"/>
          </a:p>
        </p:txBody>
      </p:sp>
      <p:sp>
        <p:nvSpPr>
          <p:cNvPr id="108" name="Shape 85"/>
          <p:cNvSpPr/>
          <p:nvPr/>
        </p:nvSpPr>
        <p:spPr>
          <a:xfrm>
            <a:off x="8791956" y="3682289"/>
            <a:ext cx="2866644" cy="2229307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109" name="Shape 86"/>
          <p:cNvSpPr/>
          <p:nvPr/>
        </p:nvSpPr>
        <p:spPr>
          <a:xfrm>
            <a:off x="8801100" y="3691433"/>
            <a:ext cx="2848356" cy="590702"/>
          </a:xfrm>
          <a:prstGeom prst="roundRect">
            <a:avLst>
              <a:gd name="adj" fmla="val 109857"/>
            </a:avLst>
          </a:prstGeom>
          <a:solidFill>
            <a:srgbClr val="FFF7ED"/>
          </a:solidFill>
          <a:ln/>
        </p:spPr>
      </p:sp>
      <p:sp>
        <p:nvSpPr>
          <p:cNvPr id="110" name="Shape 87"/>
          <p:cNvSpPr/>
          <p:nvPr/>
        </p:nvSpPr>
        <p:spPr>
          <a:xfrm>
            <a:off x="8801100" y="4272991"/>
            <a:ext cx="2848356" cy="9144"/>
          </a:xfrm>
          <a:prstGeom prst="roundRect">
            <a:avLst>
              <a:gd name="adj" fmla="val 7096774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11" name="Shape 88"/>
          <p:cNvSpPr/>
          <p:nvPr/>
        </p:nvSpPr>
        <p:spPr>
          <a:xfrm>
            <a:off x="9029700" y="3792017"/>
            <a:ext cx="381305" cy="381305"/>
          </a:xfrm>
          <a:prstGeom prst="roundRect">
            <a:avLst>
              <a:gd name="adj" fmla="val 167866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2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9134856" y="3896258"/>
            <a:ext cx="171907" cy="171907"/>
          </a:xfrm>
          <a:prstGeom prst="rect">
            <a:avLst/>
          </a:prstGeom>
        </p:spPr>
      </p:pic>
      <p:sp>
        <p:nvSpPr>
          <p:cNvPr id="113" name="Text 89"/>
          <p:cNvSpPr txBox="1"/>
          <p:nvPr/>
        </p:nvSpPr>
        <p:spPr>
          <a:xfrm>
            <a:off x="9525305" y="3796589"/>
            <a:ext cx="11146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2D1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BFF</a:t>
            </a:r>
            <a:endParaRPr lang="en-US" sz="1000" dirty="0"/>
          </a:p>
        </p:txBody>
      </p:sp>
      <p:sp>
        <p:nvSpPr>
          <p:cNvPr id="114" name="Text 90"/>
          <p:cNvSpPr txBox="1"/>
          <p:nvPr/>
        </p:nvSpPr>
        <p:spPr>
          <a:xfrm>
            <a:off x="9525305" y="3996842"/>
            <a:ext cx="123626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Fachada p/ N serviços</a:t>
            </a:r>
            <a:endParaRPr lang="en-US" sz="900" dirty="0"/>
          </a:p>
        </p:txBody>
      </p:sp>
      <p:sp>
        <p:nvSpPr>
          <p:cNvPr id="115" name="Shape 91"/>
          <p:cNvSpPr/>
          <p:nvPr/>
        </p:nvSpPr>
        <p:spPr>
          <a:xfrm>
            <a:off x="10703966" y="3811219"/>
            <a:ext cx="724205" cy="342900"/>
          </a:xfrm>
          <a:prstGeom prst="roundRect">
            <a:avLst>
              <a:gd name="adj" fmla="val 266667"/>
            </a:avLst>
          </a:prstGeom>
          <a:solidFill>
            <a:srgbClr val="FFEDD5"/>
          </a:solidFill>
          <a:ln w="12700">
            <a:solidFill>
              <a:srgbClr val="C2410C">
                <a:alpha val="18000"/>
              </a:srgbClr>
            </a:solidFill>
            <a:prstDash val="solid"/>
          </a:ln>
        </p:spPr>
      </p:sp>
      <p:sp>
        <p:nvSpPr>
          <p:cNvPr id="116" name="Text 92"/>
          <p:cNvSpPr txBox="1"/>
          <p:nvPr/>
        </p:nvSpPr>
        <p:spPr>
          <a:xfrm>
            <a:off x="10809122" y="3896258"/>
            <a:ext cx="61264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2D1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Orquestra</a:t>
            </a:r>
            <a:endParaRPr lang="en-US" sz="900" dirty="0"/>
          </a:p>
        </p:txBody>
      </p:sp>
      <p:sp>
        <p:nvSpPr>
          <p:cNvPr id="117" name="Shape 93"/>
          <p:cNvSpPr/>
          <p:nvPr/>
        </p:nvSpPr>
        <p:spPr>
          <a:xfrm>
            <a:off x="9029700" y="4659782"/>
            <a:ext cx="390449" cy="724205"/>
          </a:xfrm>
          <a:prstGeom prst="roundRect">
            <a:avLst>
              <a:gd name="adj" fmla="val 205632"/>
            </a:avLst>
          </a:prstGeom>
          <a:solidFill>
            <a:srgbClr val="FFF7ED"/>
          </a:solidFill>
          <a:ln w="12700">
            <a:solidFill>
              <a:srgbClr val="C2410C">
                <a:alpha val="12000"/>
              </a:srgbClr>
            </a:solidFill>
            <a:prstDash val="solid"/>
          </a:ln>
        </p:spPr>
      </p:sp>
      <p:pic>
        <p:nvPicPr>
          <p:cNvPr id="118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476" b="-476"/>
          <a:stretch/>
        </p:blipFill>
        <p:spPr>
          <a:xfrm>
            <a:off x="9085478" y="4897526"/>
            <a:ext cx="276149" cy="247802"/>
          </a:xfrm>
          <a:prstGeom prst="rect">
            <a:avLst/>
          </a:prstGeom>
        </p:spPr>
      </p:pic>
      <p:sp>
        <p:nvSpPr>
          <p:cNvPr id="119" name="Text 94"/>
          <p:cNvSpPr txBox="1"/>
          <p:nvPr/>
        </p:nvSpPr>
        <p:spPr>
          <a:xfrm>
            <a:off x="9551822" y="4659782"/>
            <a:ext cx="9628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endpoint p/ a UI</a:t>
            </a:r>
            <a:endParaRPr lang="en-US" sz="1000" dirty="0"/>
          </a:p>
        </p:txBody>
      </p:sp>
      <p:sp>
        <p:nvSpPr>
          <p:cNvPr id="120" name="Text 95"/>
          <p:cNvSpPr txBox="1"/>
          <p:nvPr/>
        </p:nvSpPr>
        <p:spPr>
          <a:xfrm>
            <a:off x="9551822" y="5060290"/>
            <a:ext cx="96286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Consolida e simplifica chamadas.</a:t>
            </a:r>
            <a:endParaRPr lang="en-US" sz="900" dirty="0"/>
          </a:p>
        </p:txBody>
      </p:sp>
      <p:sp>
        <p:nvSpPr>
          <p:cNvPr id="121" name="Shape 96"/>
          <p:cNvSpPr/>
          <p:nvPr/>
        </p:nvSpPr>
        <p:spPr>
          <a:xfrm>
            <a:off x="10585094" y="4510735"/>
            <a:ext cx="1057046" cy="533095"/>
          </a:xfrm>
          <a:prstGeom prst="roundRect">
            <a:avLst>
              <a:gd name="adj" fmla="val 9801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122" name="Shape 97"/>
          <p:cNvSpPr/>
          <p:nvPr/>
        </p:nvSpPr>
        <p:spPr>
          <a:xfrm>
            <a:off x="10709453" y="4615891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3" name="Image 23" descr="preencoded.png">    </p:cNvPr>
          <p:cNvPicPr>
            <a:picLocks noChangeAspect="1"/>
          </p:cNvPicPr>
          <p:nvPr/>
        </p:nvPicPr>
        <p:blipFill>
          <a:blip r:embed="rId24"/>
          <a:srcRect l="0" r="0" t="-100" b="-100"/>
          <a:stretch/>
        </p:blipFill>
        <p:spPr>
          <a:xfrm>
            <a:off x="10813694" y="4701845"/>
            <a:ext cx="114300" cy="152705"/>
          </a:xfrm>
          <a:prstGeom prst="rect">
            <a:avLst/>
          </a:prstGeom>
        </p:spPr>
      </p:pic>
      <p:sp>
        <p:nvSpPr>
          <p:cNvPr id="124" name="Text 98"/>
          <p:cNvSpPr txBox="1"/>
          <p:nvPr/>
        </p:nvSpPr>
        <p:spPr>
          <a:xfrm>
            <a:off x="11128248" y="4684471"/>
            <a:ext cx="467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Cliente</a:t>
            </a:r>
            <a:endParaRPr lang="en-US" sz="900" dirty="0"/>
          </a:p>
        </p:txBody>
      </p:sp>
      <p:sp>
        <p:nvSpPr>
          <p:cNvPr id="125" name="Shape 99"/>
          <p:cNvSpPr/>
          <p:nvPr/>
        </p:nvSpPr>
        <p:spPr>
          <a:xfrm>
            <a:off x="10585094" y="5139842"/>
            <a:ext cx="1057046" cy="533095"/>
          </a:xfrm>
          <a:prstGeom prst="roundRect">
            <a:avLst>
              <a:gd name="adj" fmla="val 9801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126" name="Shape 100"/>
          <p:cNvSpPr/>
          <p:nvPr/>
        </p:nvSpPr>
        <p:spPr>
          <a:xfrm>
            <a:off x="10709453" y="5244084"/>
            <a:ext cx="323698" cy="323698"/>
          </a:xfrm>
          <a:prstGeom prst="roundRect">
            <a:avLst>
              <a:gd name="adj" fmla="val 23263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7" name="Image 24" descr="preencoded.png">    </p:cNvPr>
          <p:cNvPicPr>
            <a:picLocks noChangeAspect="1"/>
          </p:cNvPicPr>
          <p:nvPr/>
        </p:nvPicPr>
        <p:blipFill>
          <a:blip r:embed="rId25"/>
          <a:srcRect l="-33" r="-33" t="0" b="0"/>
          <a:stretch/>
        </p:blipFill>
        <p:spPr>
          <a:xfrm>
            <a:off x="10785348" y="5330038"/>
            <a:ext cx="171907" cy="152705"/>
          </a:xfrm>
          <a:prstGeom prst="rect">
            <a:avLst/>
          </a:prstGeom>
        </p:spPr>
      </p:pic>
      <p:sp>
        <p:nvSpPr>
          <p:cNvPr id="128" name="Text 101"/>
          <p:cNvSpPr txBox="1"/>
          <p:nvPr/>
        </p:nvSpPr>
        <p:spPr>
          <a:xfrm>
            <a:off x="11128248" y="5313578"/>
            <a:ext cx="428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 APIs</a:t>
            </a:r>
            <a:endParaRPr lang="en-US" sz="900" dirty="0"/>
          </a:p>
        </p:txBody>
      </p:sp>
      <p:sp>
        <p:nvSpPr>
          <p:cNvPr id="129" name="Shape 102"/>
          <p:cNvSpPr/>
          <p:nvPr/>
        </p:nvSpPr>
        <p:spPr>
          <a:xfrm>
            <a:off x="1028700" y="6291986"/>
            <a:ext cx="11162995" cy="5715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Text 103"/>
          <p:cNvSpPr txBox="1"/>
          <p:nvPr/>
        </p:nvSpPr>
        <p:spPr>
          <a:xfrm>
            <a:off x="1561795" y="6482182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131" name="Text 104"/>
          <p:cNvSpPr txBox="1"/>
          <p:nvPr/>
        </p:nvSpPr>
        <p:spPr>
          <a:xfrm>
            <a:off x="9799625" y="6482182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8 • Exemplos Reais no Mercado</a:t>
            </a:r>
            <a:endParaRPr lang="en-US" sz="900" dirty="0"/>
          </a:p>
        </p:txBody>
      </p:sp>
      <p:sp>
        <p:nvSpPr>
          <p:cNvPr id="132" name="Shape 105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06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07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428854" y="395021"/>
            <a:ext cx="171907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457200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0"/>
            <a:ext cx="47347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256946"/>
            <a:ext cx="5306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Demonstração: UI com </a:t>
            </a:r>
            <a:pPr algn="l" indent="0" marL="0">
              <a:buNone/>
            </a:pPr>
            <a:r>
              <a:rPr lang="en-US" sz="10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entrada de dados</a:t>
            </a:r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+ operação de alto nível na </a:t>
            </a:r>
            <a:pPr algn="l" indent="0" marL="0">
              <a:buNone/>
            </a:pPr>
            <a:r>
              <a:rPr lang="en-US" sz="10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VendaFacade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842" b="-842"/>
          <a:stretch/>
        </p:blipFill>
        <p:spPr>
          <a:xfrm>
            <a:off x="10420502" y="142646"/>
            <a:ext cx="190195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06049" y="142646"/>
            <a:ext cx="171907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3840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448" b="-1448"/>
          <a:stretch/>
        </p:blipFill>
        <p:spPr>
          <a:xfrm>
            <a:off x="11387023" y="142646"/>
            <a:ext cx="161849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966521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923544"/>
            <a:ext cx="11338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Demonstração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1238098"/>
            <a:ext cx="51105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UI </a:t>
            </a:r>
            <a:pPr algn="l" indent="0" marL="0">
              <a:buNone/>
            </a:pPr>
            <a:r>
              <a:rPr lang="en-US" sz="33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 dados</a:t>
            </a:r>
            <a:pPr algn="l"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chama </a:t>
            </a:r>
            <a:pPr algn="l" indent="0" marL="0">
              <a:buNone/>
            </a:pPr>
            <a:r>
              <a:rPr lang="en-US" sz="3300" b="1" dirty="0">
                <a:solidFill>
                  <a:srgbClr val="0B3A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método</a:t>
            </a:r>
            <a:endParaRPr lang="en-US" sz="3300" dirty="0"/>
          </a:p>
        </p:txBody>
      </p:sp>
      <p:sp>
        <p:nvSpPr>
          <p:cNvPr id="18" name="Text 12"/>
          <p:cNvSpPr txBox="1"/>
          <p:nvPr/>
        </p:nvSpPr>
        <p:spPr>
          <a:xfrm>
            <a:off x="1561795" y="2257654"/>
            <a:ext cx="50292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tela coleta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valor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cartão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e-mail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dispara </a:t>
            </a:r>
            <a:pPr algn="l" indent="0" marL="0">
              <a:buNone/>
            </a:pPr>
            <a:r>
              <a:rPr lang="en-US" sz="1300" b="1" dirty="0">
                <a:solidFill>
                  <a:srgbClr val="0B3A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FinalizarPedido()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61795" y="3021178"/>
            <a:ext cx="4953305" cy="657454"/>
          </a:xfrm>
          <a:prstGeom prst="roundRect">
            <a:avLst>
              <a:gd name="adj" fmla="val 7256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705356" y="3164738"/>
            <a:ext cx="362102" cy="362102"/>
          </a:xfrm>
          <a:prstGeom prst="roundRect">
            <a:avLst>
              <a:gd name="adj" fmla="val 186071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1800454" y="3268980"/>
            <a:ext cx="171907" cy="15270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180844" y="3164738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Entrada de dados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2180844" y="3364078"/>
            <a:ext cx="4305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Usuário digita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valor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nº do cartão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e-mail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561795" y="3788359"/>
            <a:ext cx="4953305" cy="657454"/>
          </a:xfrm>
          <a:prstGeom prst="roundRect">
            <a:avLst>
              <a:gd name="adj" fmla="val 7256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1705356" y="3931920"/>
            <a:ext cx="362102" cy="362102"/>
          </a:xfrm>
          <a:prstGeom prst="roundRect">
            <a:avLst>
              <a:gd name="adj" fmla="val 18607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809598" y="4036162"/>
            <a:ext cx="152705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180844" y="3931920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Fluxo completo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2180844" y="4131259"/>
            <a:ext cx="4305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Estoque → Pagamento → Notificação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1561795" y="4555541"/>
            <a:ext cx="4953305" cy="657454"/>
          </a:xfrm>
          <a:prstGeom prst="roundRect">
            <a:avLst>
              <a:gd name="adj" fmla="val 7256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705356" y="4699102"/>
            <a:ext cx="362102" cy="362102"/>
          </a:xfrm>
          <a:prstGeom prst="roundRect">
            <a:avLst>
              <a:gd name="adj" fmla="val 186071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809598" y="4803343"/>
            <a:ext cx="152705" cy="15270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180844" y="4699102"/>
            <a:ext cx="4305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Resultado imediato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2180844" y="4898441"/>
            <a:ext cx="4305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Sucesso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</a:t>
            </a:r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erro</a:t>
            </a:r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tratado pela Facade. 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1561795" y="5475427"/>
            <a:ext cx="4953305" cy="638251"/>
          </a:xfrm>
          <a:prstGeom prst="roundRect">
            <a:avLst>
              <a:gd name="adj" fmla="val 68426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1705356" y="5601614"/>
            <a:ext cx="381305" cy="381305"/>
          </a:xfrm>
          <a:prstGeom prst="roundRect">
            <a:avLst>
              <a:gd name="adj" fmla="val 16786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448" b="-1448"/>
          <a:stretch/>
        </p:blipFill>
        <p:spPr>
          <a:xfrm>
            <a:off x="1814170" y="5706770"/>
            <a:ext cx="161849" cy="171907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2200046" y="5599786"/>
            <a:ext cx="28136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Repositório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2200046" y="5799125"/>
            <a:ext cx="3219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github.com/OtavioHub97/sa-design-patterns-wpf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5594299" y="5620817"/>
            <a:ext cx="780898" cy="342900"/>
          </a:xfrm>
          <a:prstGeom prst="roundRect">
            <a:avLst>
              <a:gd name="adj" fmla="val 266667"/>
            </a:avLst>
          </a:prstGeom>
          <a:solidFill>
            <a:srgbClr val="EEF2FF"/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0" b="-80"/>
          <a:stretch/>
        </p:blipFill>
        <p:spPr>
          <a:xfrm>
            <a:off x="5698541" y="5735117"/>
            <a:ext cx="142646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917997" y="5620817"/>
            <a:ext cx="4096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Código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6724498" y="923544"/>
            <a:ext cx="4934102" cy="6124651"/>
          </a:xfrm>
          <a:prstGeom prst="roundRect">
            <a:avLst>
              <a:gd name="adj" fmla="val 1431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6734556" y="933602"/>
            <a:ext cx="4914900" cy="533095"/>
          </a:xfrm>
          <a:prstGeom prst="roundRect">
            <a:avLst>
              <a:gd name="adj" fmla="val 122519"/>
            </a:avLst>
          </a:prstGeom>
          <a:solidFill>
            <a:srgbClr val="F1F5F9"/>
          </a:solidFill>
          <a:ln/>
        </p:spPr>
      </p:sp>
      <p:sp>
        <p:nvSpPr>
          <p:cNvPr id="44" name="Shape 33"/>
          <p:cNvSpPr/>
          <p:nvPr/>
        </p:nvSpPr>
        <p:spPr>
          <a:xfrm>
            <a:off x="6734556" y="1457554"/>
            <a:ext cx="4914900" cy="9144"/>
          </a:xfrm>
          <a:prstGeom prst="roundRect">
            <a:avLst>
              <a:gd name="adj" fmla="val 7142857"/>
            </a:avLst>
          </a:prstGeom>
          <a:solidFill>
            <a:srgbClr val="0F172A">
              <a:alpha val="8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6924751" y="1033272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CF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010705" y="1119226"/>
            <a:ext cx="152705" cy="152705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7343546" y="1009498"/>
            <a:ext cx="163311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Screenshot da UI (WPF)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7343546" y="1209751"/>
            <a:ext cx="16331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 real da aplicação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10948111" y="1024128"/>
            <a:ext cx="514807" cy="342900"/>
          </a:xfrm>
          <a:prstGeom prst="roundRect">
            <a:avLst>
              <a:gd name="adj" fmla="val 177778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1053267" y="1138428"/>
            <a:ext cx="114300" cy="114300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11243462" y="1024128"/>
            <a:ext cx="171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6924751" y="1657807"/>
            <a:ext cx="4533595" cy="4362602"/>
          </a:xfrm>
          <a:prstGeom prst="roundRect">
            <a:avLst>
              <a:gd name="adj" fmla="val 1464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8338" b="8338"/>
          <a:stretch/>
        </p:blipFill>
        <p:spPr>
          <a:xfrm>
            <a:off x="6933895" y="1666951"/>
            <a:ext cx="4515307" cy="4343400"/>
          </a:xfrm>
          <a:prstGeom prst="rect">
            <a:avLst/>
          </a:prstGeom>
        </p:spPr>
      </p:pic>
      <p:sp>
        <p:nvSpPr>
          <p:cNvPr id="54" name="Shape 40"/>
          <p:cNvSpPr/>
          <p:nvPr/>
        </p:nvSpPr>
        <p:spPr>
          <a:xfrm>
            <a:off x="6924751" y="6172200"/>
            <a:ext cx="1447495" cy="676656"/>
          </a:xfrm>
          <a:prstGeom prst="roundRect">
            <a:avLst>
              <a:gd name="adj" fmla="val 60906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7029907" y="6277356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1100" b="-1100"/>
          <a:stretch/>
        </p:blipFill>
        <p:spPr>
          <a:xfrm>
            <a:off x="7114946" y="6353251"/>
            <a:ext cx="114300" cy="133502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7410298" y="6277356"/>
            <a:ext cx="933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 clique</a:t>
            </a:r>
            <a:endParaRPr lang="en-US" sz="900" dirty="0"/>
          </a:p>
        </p:txBody>
      </p:sp>
      <p:sp>
        <p:nvSpPr>
          <p:cNvPr id="58" name="Text 43"/>
          <p:cNvSpPr txBox="1"/>
          <p:nvPr/>
        </p:nvSpPr>
        <p:spPr>
          <a:xfrm>
            <a:off x="7410298" y="6455664"/>
            <a:ext cx="10204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Executa o fluxo.</a:t>
            </a:r>
            <a:endParaRPr lang="en-US" sz="900" dirty="0"/>
          </a:p>
        </p:txBody>
      </p:sp>
      <p:sp>
        <p:nvSpPr>
          <p:cNvPr id="59" name="Shape 44"/>
          <p:cNvSpPr/>
          <p:nvPr/>
        </p:nvSpPr>
        <p:spPr>
          <a:xfrm>
            <a:off x="8467344" y="6172200"/>
            <a:ext cx="1447495" cy="676656"/>
          </a:xfrm>
          <a:prstGeom prst="roundRect">
            <a:avLst>
              <a:gd name="adj" fmla="val 60906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60" name="Shape 45"/>
          <p:cNvSpPr/>
          <p:nvPr/>
        </p:nvSpPr>
        <p:spPr>
          <a:xfrm>
            <a:off x="8572500" y="6277356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rcRect l="-837" r="-837" t="0" b="0"/>
          <a:stretch/>
        </p:blipFill>
        <p:spPr>
          <a:xfrm>
            <a:off x="8639251" y="6353251"/>
            <a:ext cx="152705" cy="133502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8953805" y="6277356"/>
            <a:ext cx="933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Facade</a:t>
            </a:r>
            <a:endParaRPr lang="en-US" sz="900" dirty="0"/>
          </a:p>
        </p:txBody>
      </p:sp>
      <p:sp>
        <p:nvSpPr>
          <p:cNvPr id="63" name="Text 47"/>
          <p:cNvSpPr txBox="1"/>
          <p:nvPr/>
        </p:nvSpPr>
        <p:spPr>
          <a:xfrm>
            <a:off x="8953805" y="6455664"/>
            <a:ext cx="10204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Orquestra tudo.</a:t>
            </a:r>
            <a:endParaRPr lang="en-US" sz="900" dirty="0"/>
          </a:p>
        </p:txBody>
      </p:sp>
      <p:sp>
        <p:nvSpPr>
          <p:cNvPr id="64" name="Shape 48"/>
          <p:cNvSpPr/>
          <p:nvPr/>
        </p:nvSpPr>
        <p:spPr>
          <a:xfrm>
            <a:off x="10010851" y="6172200"/>
            <a:ext cx="1447495" cy="676656"/>
          </a:xfrm>
          <a:prstGeom prst="roundRect">
            <a:avLst>
              <a:gd name="adj" fmla="val 60906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65" name="Shape 49"/>
          <p:cNvSpPr/>
          <p:nvPr/>
        </p:nvSpPr>
        <p:spPr>
          <a:xfrm>
            <a:off x="10116007" y="6277356"/>
            <a:ext cx="286207" cy="286207"/>
          </a:xfrm>
          <a:prstGeom prst="roundRect">
            <a:avLst>
              <a:gd name="adj" fmla="val 255591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10191902" y="6353251"/>
            <a:ext cx="133502" cy="133502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10496398" y="6277356"/>
            <a:ext cx="933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Serviços</a:t>
            </a:r>
            <a:endParaRPr lang="en-US" sz="900" dirty="0"/>
          </a:p>
        </p:txBody>
      </p:sp>
      <p:sp>
        <p:nvSpPr>
          <p:cNvPr id="68" name="Text 51"/>
          <p:cNvSpPr txBox="1"/>
          <p:nvPr/>
        </p:nvSpPr>
        <p:spPr>
          <a:xfrm>
            <a:off x="10496398" y="6455664"/>
            <a:ext cx="914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Implementam regras.</a:t>
            </a:r>
            <a:endParaRPr lang="en-US" sz="900" dirty="0"/>
          </a:p>
        </p:txBody>
      </p:sp>
      <p:sp>
        <p:nvSpPr>
          <p:cNvPr id="69" name="Text 52"/>
          <p:cNvSpPr txBox="1"/>
          <p:nvPr/>
        </p:nvSpPr>
        <p:spPr>
          <a:xfrm>
            <a:off x="6801307" y="7179869"/>
            <a:ext cx="196138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 • Entrada de dados + Facade</a:t>
            </a:r>
            <a:endParaRPr lang="en-US" sz="900" dirty="0"/>
          </a:p>
        </p:txBody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16"/>
          <a:srcRect l="-2571" r="-2571" t="0" b="0"/>
          <a:stretch/>
        </p:blipFill>
        <p:spPr>
          <a:xfrm>
            <a:off x="10792663" y="7208215"/>
            <a:ext cx="105156" cy="114300"/>
          </a:xfrm>
          <a:prstGeom prst="rect">
            <a:avLst/>
          </a:prstGeom>
        </p:spPr>
      </p:pic>
      <p:sp>
        <p:nvSpPr>
          <p:cNvPr id="71" name="Text 53"/>
          <p:cNvSpPr txBox="1"/>
          <p:nvPr/>
        </p:nvSpPr>
        <p:spPr>
          <a:xfrm>
            <a:off x="10973714" y="7179869"/>
            <a:ext cx="7260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GoF • Facade</a:t>
            </a:r>
            <a:endParaRPr lang="en-US" sz="900" dirty="0"/>
          </a:p>
        </p:txBody>
      </p:sp>
      <p:sp>
        <p:nvSpPr>
          <p:cNvPr id="72" name="Shape 54"/>
          <p:cNvSpPr/>
          <p:nvPr/>
        </p:nvSpPr>
        <p:spPr>
          <a:xfrm>
            <a:off x="1028700" y="7808062"/>
            <a:ext cx="11162995" cy="19019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55"/>
          <p:cNvSpPr txBox="1"/>
          <p:nvPr/>
        </p:nvSpPr>
        <p:spPr>
          <a:xfrm>
            <a:off x="1561795" y="7808062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74" name="Text 56"/>
          <p:cNvSpPr txBox="1"/>
          <p:nvPr/>
        </p:nvSpPr>
        <p:spPr>
          <a:xfrm>
            <a:off x="9792310" y="7808062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9 • Demonstração da Aplicação</a:t>
            </a:r>
            <a:endParaRPr lang="en-US" sz="900" dirty="0"/>
          </a:p>
        </p:txBody>
      </p:sp>
      <p:sp>
        <p:nvSpPr>
          <p:cNvPr id="75" name="Shape 57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58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59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414223" y="395021"/>
            <a:ext cx="200254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981151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261518"/>
            <a:ext cx="39593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519379"/>
            <a:ext cx="34582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Fechamento: principais conclusões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29646" y="405079"/>
            <a:ext cx="171907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773" r="-1773" t="0" b="0"/>
          <a:stretch/>
        </p:blipFill>
        <p:spPr>
          <a:xfrm>
            <a:off x="10925251" y="405079"/>
            <a:ext cx="133502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448" b="-1448"/>
          <a:stretch/>
        </p:blipFill>
        <p:spPr>
          <a:xfrm>
            <a:off x="11387023" y="405079"/>
            <a:ext cx="161849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561795" y="1414577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1772107" y="1371600"/>
            <a:ext cx="11247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561795" y="1686154"/>
            <a:ext cx="43818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18" name="Text 12"/>
          <p:cNvSpPr txBox="1"/>
          <p:nvPr/>
        </p:nvSpPr>
        <p:spPr>
          <a:xfrm>
            <a:off x="1561795" y="2273198"/>
            <a:ext cx="426750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</a:t>
            </a:r>
            <a:pPr algn="l" indent="0" marL="0">
              <a:buNone/>
            </a:pPr>
            <a:r>
              <a:rPr lang="en-US" sz="13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VendaFacade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virou o ponto único de entrada da UI para executar a venda: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validar estoque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processar pagamento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notificar</a:t>
            </a:r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61795" y="3285439"/>
            <a:ext cx="4190695" cy="1371600"/>
          </a:xfrm>
          <a:prstGeom prst="roundRect">
            <a:avLst>
              <a:gd name="adj" fmla="val 18519"/>
            </a:avLst>
          </a:prstGeom>
          <a:solidFill>
            <a:srgbClr val="EEF2FF"/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723644" y="3488436"/>
            <a:ext cx="390449" cy="437998"/>
          </a:xfrm>
          <a:prstGeom prst="roundRect">
            <a:avLst>
              <a:gd name="adj" fmla="val 182784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84" b="-884"/>
          <a:stretch/>
        </p:blipFill>
        <p:spPr>
          <a:xfrm>
            <a:off x="1826057" y="3612794"/>
            <a:ext cx="181051" cy="1901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222906" y="3447288"/>
            <a:ext cx="27477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Repositório (código + relatório)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2222906" y="3647542"/>
            <a:ext cx="26197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github.com/OtavioHub97/sa-design-patterns-wpf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4871009" y="3516782"/>
            <a:ext cx="7242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4994453" y="3650285"/>
            <a:ext cx="142646" cy="1143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213909" y="3516782"/>
            <a:ext cx="3145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Abrir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1723644" y="4144061"/>
            <a:ext cx="323698" cy="323698"/>
          </a:xfrm>
          <a:prstGeom prst="roundRect">
            <a:avLst>
              <a:gd name="adj" fmla="val 199402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1800454" y="4239158"/>
            <a:ext cx="171907" cy="1335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143354" y="4120286"/>
            <a:ext cx="15078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Método principal (UI)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2143354" y="4305910"/>
            <a:ext cx="13432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3A6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FinalizarPedido()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4514393" y="4258361"/>
            <a:ext cx="95098" cy="9509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4686300" y="4219956"/>
            <a:ext cx="108813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Pronto para demo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1561795" y="4881982"/>
            <a:ext cx="4190695" cy="933602"/>
          </a:xfrm>
          <a:prstGeom prst="roundRect">
            <a:avLst>
              <a:gd name="adj" fmla="val 35979"/>
            </a:avLst>
          </a:prstGeom>
          <a:solidFill>
            <a:srgbClr val="0B1220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1705356" y="5005426"/>
            <a:ext cx="39822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3C5F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Checklist final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✔</a:t>
            </a:r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UI chama 1 operação de alto nível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✔</a:t>
            </a:r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Serviços ficam isolados (subsistemas)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A7F3D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✔</a:t>
            </a:r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Fluxo e erros centralizados na Facade </a:t>
            </a:r>
            <a:endParaRPr lang="en-US" sz="800" dirty="0"/>
          </a:p>
        </p:txBody>
      </p:sp>
      <p:sp>
        <p:nvSpPr>
          <p:cNvPr id="35" name="Shape 26"/>
          <p:cNvSpPr/>
          <p:nvPr/>
        </p:nvSpPr>
        <p:spPr>
          <a:xfrm>
            <a:off x="5962802" y="1371600"/>
            <a:ext cx="5695798" cy="780898"/>
          </a:xfrm>
          <a:prstGeom prst="roundRect">
            <a:avLst>
              <a:gd name="adj" fmla="val 62832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124651" y="1533449"/>
            <a:ext cx="457200" cy="457200"/>
          </a:xfrm>
          <a:prstGeom prst="roundRect">
            <a:avLst>
              <a:gd name="adj" fmla="val 150000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34379" y="1666951"/>
            <a:ext cx="237744" cy="190195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715354" y="1533449"/>
            <a:ext cx="3934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1) Menos acoplamento</a:t>
            </a:r>
            <a:endParaRPr lang="en-US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6715354" y="1762049"/>
            <a:ext cx="4506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UI conversa com </a:t>
            </a:r>
            <a:pPr algn="l" indent="0" marL="0">
              <a:buNone/>
            </a:pPr>
            <a:r>
              <a:rPr lang="en-US" sz="10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uma interface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(Facade) em vez de vários serviços. 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10532974" y="1533449"/>
            <a:ext cx="972007" cy="342900"/>
          </a:xfrm>
          <a:prstGeom prst="roundRect">
            <a:avLst>
              <a:gd name="adj" fmla="val 177778"/>
            </a:avLst>
          </a:prstGeom>
          <a:solidFill>
            <a:srgbClr val="EEF2FF"/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10637215" y="1619402"/>
            <a:ext cx="838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UI → Facade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5962802" y="2286000"/>
            <a:ext cx="5695798" cy="914400"/>
          </a:xfrm>
          <a:prstGeom prst="roundRect">
            <a:avLst>
              <a:gd name="adj" fmla="val 4583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6124651" y="2447849"/>
            <a:ext cx="457200" cy="457200"/>
          </a:xfrm>
          <a:prstGeom prst="roundRect">
            <a:avLst>
              <a:gd name="adj" fmla="val 150000"/>
            </a:avLst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258154" y="2581351"/>
            <a:ext cx="190195" cy="19019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6715354" y="2447849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2) Mais testabilidade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6715354" y="2676449"/>
            <a:ext cx="35725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Fica fácil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mockar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Facade e testar o fluxo sem integrações reais. 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10208362" y="2447849"/>
            <a:ext cx="1295705" cy="514807"/>
          </a:xfrm>
          <a:prstGeom prst="roundRect">
            <a:avLst>
              <a:gd name="adj" fmla="val 78942"/>
            </a:avLst>
          </a:prstGeom>
          <a:solidFill>
            <a:srgbClr val="E0F2FE"/>
          </a:solidFill>
          <a:ln w="12700">
            <a:solidFill>
              <a:srgbClr val="0369A1">
                <a:alpha val="25000"/>
              </a:srgbClr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10313518" y="2533802"/>
            <a:ext cx="114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4A6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Mock VendaFacade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5962802" y="3332074"/>
            <a:ext cx="5695798" cy="914400"/>
          </a:xfrm>
          <a:prstGeom prst="roundRect">
            <a:avLst>
              <a:gd name="adj" fmla="val 45833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124651" y="3493922"/>
            <a:ext cx="457200" cy="457200"/>
          </a:xfrm>
          <a:prstGeom prst="roundRect">
            <a:avLst>
              <a:gd name="adj" fmla="val 15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rcRect l="-1282" r="-1282" t="0" b="0"/>
          <a:stretch/>
        </p:blipFill>
        <p:spPr>
          <a:xfrm>
            <a:off x="6243523" y="3627425"/>
            <a:ext cx="219456" cy="19019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6715354" y="3493922"/>
            <a:ext cx="31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3) Fluxo centralizado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6715354" y="3722522"/>
            <a:ext cx="31153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Ordem do pipeline e tratamento de erros ficam em </a:t>
            </a:r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 ponto único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9749333" y="3493922"/>
            <a:ext cx="1752905" cy="514807"/>
          </a:xfrm>
          <a:prstGeom prst="roundRect">
            <a:avLst>
              <a:gd name="adj" fmla="val 78942"/>
            </a:avLst>
          </a:prstGeom>
          <a:solidFill>
            <a:srgbClr val="ECFDF5"/>
          </a:solidFill>
          <a:ln w="12700">
            <a:solidFill>
              <a:srgbClr val="047857">
                <a:alpha val="25000"/>
              </a:srgbClr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9854489" y="3579876"/>
            <a:ext cx="16047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Validar → Pagar → Notificar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1028700" y="6248095"/>
            <a:ext cx="11162995" cy="60990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1561795" y="6460236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58" name="Text 46"/>
          <p:cNvSpPr txBox="1"/>
          <p:nvPr/>
        </p:nvSpPr>
        <p:spPr>
          <a:xfrm>
            <a:off x="10622585" y="6460236"/>
            <a:ext cx="123626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10 • Conclusão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" cy="6858000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9556"/>
            <a:ext cx="1028700" cy="9144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80" r="-80" t="0" b="0"/>
          <a:stretch/>
        </p:blipFill>
        <p:spPr>
          <a:xfrm>
            <a:off x="371246" y="395021"/>
            <a:ext cx="286207" cy="228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28700" y="981151"/>
            <a:ext cx="11162995" cy="9144"/>
          </a:xfrm>
          <a:prstGeom prst="rect">
            <a:avLst/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61795" y="261518"/>
            <a:ext cx="39593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" kern="0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Padrão Facade (GoF) • Aplicação em C# WPF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561795" y="519379"/>
            <a:ext cx="34582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Encerramento • Agradecimento e contato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32540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429646" y="405079"/>
            <a:ext cx="171907" cy="1719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801807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06049" y="405079"/>
            <a:ext cx="171907" cy="1719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1277295" y="299923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448" b="-1448"/>
          <a:stretch/>
        </p:blipFill>
        <p:spPr>
          <a:xfrm>
            <a:off x="11387023" y="405079"/>
            <a:ext cx="161849" cy="1719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181198" y="1619402"/>
            <a:ext cx="114300" cy="1143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3390595" y="1576426"/>
            <a:ext cx="7525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5" kern="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Obrigado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3181198" y="1928470"/>
            <a:ext cx="70491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18" name="Text 12"/>
          <p:cNvSpPr txBox="1"/>
          <p:nvPr/>
        </p:nvSpPr>
        <p:spPr>
          <a:xfrm>
            <a:off x="3181198" y="2702966"/>
            <a:ext cx="69348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Agradeço à turma, ao </a:t>
            </a:r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Professor Frederico Martins Aguiar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ao </a:t>
            </a:r>
            <a:pPr algn="l" indent="0" marL="0">
              <a:buNone/>
            </a:pPr>
            <a:r>
              <a:rPr lang="en-US" sz="1500" b="1" dirty="0">
                <a:solidFill>
                  <a:srgbClr val="0B3A6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SENAI Afonso Greco</a:t>
            </a:r>
            <a:pPr algn="l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pela oportunidade e orientação. 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3181198" y="3578962"/>
            <a:ext cx="3372307" cy="1019556"/>
          </a:xfrm>
          <a:prstGeom prst="roundRect">
            <a:avLst>
              <a:gd name="adj" fmla="val 30175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323844" y="3721608"/>
            <a:ext cx="400507" cy="400507"/>
          </a:xfrm>
          <a:prstGeom prst="roundRect">
            <a:avLst>
              <a:gd name="adj" fmla="val 173951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-760" r="-760" t="0" b="0"/>
          <a:stretch/>
        </p:blipFill>
        <p:spPr>
          <a:xfrm>
            <a:off x="3448202" y="3835908"/>
            <a:ext cx="152705" cy="17190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38651" y="3721608"/>
            <a:ext cx="26755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Autor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3838651" y="3921862"/>
            <a:ext cx="2675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Otavio Henrique Barbosa Soares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667805" y="3578962"/>
            <a:ext cx="3372307" cy="1019556"/>
          </a:xfrm>
          <a:prstGeom prst="roundRect">
            <a:avLst>
              <a:gd name="adj" fmla="val 30175"/>
            </a:avLst>
          </a:prstGeom>
          <a:solidFill>
            <a:srgbClr val="EEF2FF"/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810451" y="3721608"/>
            <a:ext cx="400507" cy="400507"/>
          </a:xfrm>
          <a:prstGeom prst="roundRect">
            <a:avLst>
              <a:gd name="adj" fmla="val 173951"/>
            </a:avLst>
          </a:prstGeom>
          <a:solidFill>
            <a:srgbClr val="FFFFFF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84" b="-884"/>
          <a:stretch/>
        </p:blipFill>
        <p:spPr>
          <a:xfrm>
            <a:off x="6920179" y="3826764"/>
            <a:ext cx="181051" cy="19019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24344" y="3721608"/>
            <a:ext cx="18580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Contato (GitHub)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7324344" y="3921862"/>
            <a:ext cx="21204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github.com/OtavioHub97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7324344" y="4131259"/>
            <a:ext cx="185257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Acesse para ver projetos e evolução do código.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9214409" y="3721608"/>
            <a:ext cx="685800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0" b="-80"/>
          <a:stretch/>
        </p:blipFill>
        <p:spPr>
          <a:xfrm>
            <a:off x="9318650" y="3835908"/>
            <a:ext cx="142646" cy="1143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538106" y="3721608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Abrir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3181198" y="4977079"/>
            <a:ext cx="6858000" cy="685800"/>
          </a:xfrm>
          <a:prstGeom prst="roundRect">
            <a:avLst>
              <a:gd name="adj" fmla="val 66667"/>
            </a:avLst>
          </a:prstGeom>
          <a:solidFill>
            <a:srgbClr val="F8FAFC"/>
          </a:solidFill>
          <a:ln w="12700">
            <a:solidFill>
              <a:srgbClr val="0F172A">
                <a:alpha val="10000"/>
              </a:srgbClr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5745175" y="5119726"/>
            <a:ext cx="400507" cy="400507"/>
          </a:xfrm>
          <a:prstGeom prst="roundRect">
            <a:avLst>
              <a:gd name="adj" fmla="val 173951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2" b="-842"/>
          <a:stretch/>
        </p:blipFill>
        <p:spPr>
          <a:xfrm>
            <a:off x="5849417" y="5234026"/>
            <a:ext cx="190195" cy="171907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259068" y="5142586"/>
            <a:ext cx="145115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Fim da apresentação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6259068" y="5341925"/>
            <a:ext cx="145115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Obrigado pela atenção.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1028700" y="6248095"/>
            <a:ext cx="11162995" cy="609905"/>
          </a:xfrm>
          <a:prstGeom prst="rect">
            <a:avLst/>
          </a:prstGeom>
          <a:solidFill>
            <a:srgbClr val="0B3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1561795" y="6460236"/>
            <a:ext cx="4200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Situação de Aprendizagem • Aplicação de Design Patterns em C# WPF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10376611" y="6460236"/>
            <a:ext cx="1530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11 • Agradecimento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466344" y="6001207"/>
            <a:ext cx="95098" cy="9509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466344" y="6191402"/>
            <a:ext cx="95098" cy="95098"/>
          </a:xfrm>
          <a:prstGeom prst="ellipse">
            <a:avLst/>
          </a:prstGeom>
          <a:solidFill>
            <a:srgbClr val="FFFFFF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466344" y="6381598"/>
            <a:ext cx="95098" cy="95098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2026-03-24T20:54:02Z</dcterms:created>
  <dcterms:modified xsi:type="dcterms:W3CDTF">2026-03-24T20:54:02Z</dcterms:modified>
</cp:coreProperties>
</file>